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EF9DB7-782A-43A0-A7D7-173F1D268424}" v="1" dt="2026-10-09T11:21:18.692"/>
    <p1510:client id="{E7DE64CB-2C57-4B72-045C-25A606364D32}" v="6" dt="2026-10-09T11:58:36.1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capabilities combine site workforce, professional staff and a fleet of more than 200 units. Workforce and staff are separate categories. Exact counts and the 2026 heavy-equipment position remain unconfirmed. Fleet and heavy-equipment categories may overlap and must not be summed. Source: MD-supplied quarterly meeting note. Provisional navy, teal and white palette pending RBM Ark 4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ambition is to compete through innovation and adaptability. We will focus on tools that improve productivity, reduce costs and raise quality. We will continue to explore opportunities that strengthen our competitive position. Source: MD-supplied note. Technology descriptions express future direction, not confirmed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Precast remains a general innovation initiative without technical detail. For dozer leveling, BIM and drones, this presentation describes exploration or planned implementation because deployment status was not confirmed. Source: MD-supplied note.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outcomes are intended benefits, not reported achievements. Suggested measures translate the MD’s value objectives into board oversight. Establish a baseline before each pilot and compare results before wider implementation. Invest in technology at all levels, choose practical digital solutions and use data to identify inefficiencies. No numeric savings targets or achieved benefits have been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continuing to explore underground scanning tools and software. These technologies remain under evaluation. The intended benefits are faster project delivery, higher quality, lower cost, improved control, greater productivity and reduced waste. Proposed management approach: select suitable pilots, appoint owners, establish baseline measures and review evidence before rollout. This is an MD proposal, not an approved investment or implementation commitment. Source: MD-supplied note.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MD update, 9 October 2026: Innovo Infra is now registered and will participate in tenders in sea ports, airports, sewage treatment plants, district cooling plants and networks, desalination plants and other relevant infrastructure sectors. The MD has not specified individual registration authorities or tender eligibility scopes. This slide presents tender participation and diversification direction, not contract awards or confirmed delivery capability in each sector. Supporting previous board strategy: Innovo_Infra_BD_Strategy_CEO_Chart_Review_September_2026.pptx, slides 4 and 6, identifies two Dubai South chilled-water network bids in preparation and Hatta sewage/STP and Warsan STP target opportunities. These are September pipeline examples, not newly confirmed tender statuses. Strategic objective: broaden sector and client coverage while building on Innovo Infra’s infrastructure experience. For specialist plant opportunities, assess delivery requirements and appropriate technical partnerships before bidding.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five award and certificate photographs supplied by Rayan El Eid on 9 October 2026. Guinness certificate records 2,248 solar-powered streetlights between Abu Dhabi and Al Ain, achieved 30 December 2025 by Innovo Roads Infrastructure &amp; Marine Works Sole-Proprietorship LLC (UAE). Big Project Awards trophy: Project of the Year, Infrastructure &amp; Transport, Al Faya Razeen, Innovo Infra. The 16th edition wording is not treated as an award year. Eden Hills plaque: one million safe man-hours without LTI, performance and safety excellence, Innovo RIM, with Eden Hills, H&amp;H, Innovo Infra and Parsons logos. Galadari/JCB trophy: Award of Best Machines’ Utilization, Innovo Infra, Rayan El Eid, Managing Director. JCB certificate: Customer of the Year 2025. DMT Special Classification for Main Roads &amp; Streets Contracting comes from Innovo_Infra_Bishoy_PPT.pptx, September 2026, executive summary. Dates not legible or absent from the supplied evidence are omitted. Additional indistinct trophies in the background are not included.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award photographs supplied by Rayan El Eid, 9 October 2026. Left to right: Eden Hills safety excellence, Galadari/JCB Best Machines’ Utilization, Guinness World Records certificate. Right top: Big Project Awards Project of the Year, Infrastructure &amp; Transport, Al Faya Razeen. Right bottom: JCB Customer of the Year 2025. Photographs retain their original proportions.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E9B775-AA0B-43B2-B1DC-DD64379A89F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40F59B8-0785-4920-9470-36E08F73D4E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903C2BC-56D2-4A04-B4ED-34ACB0AF9F4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31E037E-E360-488E-8B27-5685B83EBE0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42DB55B2-E748-4516-9FA8-34842AEF372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8B601E2-5983-4FDA-B276-DEEF356A2F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2B51242-369C-4BBE-B831-A957D2C5E7A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DDAAC59-0889-4AA0-9EFF-5C7C59DB980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2C05C0D-2A71-40E3-BFDF-4A398D1A62F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CD46777-8062-42BB-89EA-636C964CE35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C3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502FD70-7F8A-4088-B3CF-ABFCDFD73952}"/>
              </a:ext>
            </a:extLst>
          </p:cNvPr>
          <p:cNvSpPr>
            <a:spLocks noGrp="1"/>
          </p:cNvSpPr>
          <p:nvPr/>
        </p:nvSpPr>
        <p:spPr>
          <a:xfrm>
            <a:off x="609600" y="333375"/>
            <a:ext cx="7239000" cy="266700"/>
          </a:xfrm>
          <a:prstGeom prst="rect">
            <a:avLst/>
          </a:prstGeom>
          <a:noFill/>
          <a:ln w="0">
            <a:noFill/>
          </a:ln>
        </p:spPr>
        <p:txBody>
          <a:bodyPr/>
          <a:lstStyle>
            <a:defPPr>
              <a:defRPr sz="1350" b="1">
                <a:solidFill>
                  <a:srgbClr val="68CCCE"/>
                </a:solidFill>
                <a:latin typeface="DejaVu Sans"/>
                <a:ea typeface="DejaVu Sans"/>
                <a:cs typeface="DejaVu Sans"/>
              </a:defRPr>
            </a:defPPr>
          </a:lstStyle>
          <a:p>
            <a:pPr>
              <a:defRPr sz="1350" b="1">
                <a:solidFill>
                  <a:srgbClr val="68CCCE"/>
                </a:solidFill>
                <a:latin typeface="DejaVu Sans"/>
                <a:ea typeface="DejaVu Sans"/>
                <a:cs typeface="DejaVu Sans"/>
              </a:defRPr>
            </a:pPr>
            <a:r>
              <a:rPr sz="1350" b="1">
                <a:solidFill>
                  <a:srgbClr val="68CCCE"/>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FE4B554D-C8AA-4445-8583-93FA2C88C56F}"/>
              </a:ext>
            </a:extLst>
          </p:cNvPr>
          <p:cNvSpPr>
            <a:spLocks noGrp="1"/>
          </p:cNvSpPr>
          <p:nvPr/>
        </p:nvSpPr>
        <p:spPr>
          <a:xfrm>
            <a:off x="609600" y="895350"/>
            <a:ext cx="10972800" cy="857250"/>
          </a:xfrm>
          <a:prstGeom prst="rect">
            <a:avLst/>
          </a:prstGeom>
          <a:noFill/>
          <a:ln w="0">
            <a:noFill/>
          </a:ln>
        </p:spPr>
        <p:txBody>
          <a:bodyPr/>
          <a:lstStyle>
            <a:defPPr>
              <a:defRPr sz="3300" b="1">
                <a:solidFill>
                  <a:srgbClr val="FFFFFF"/>
                </a:solidFill>
                <a:latin typeface="DejaVu Sans"/>
                <a:ea typeface="DejaVu Sans"/>
                <a:cs typeface="DejaVu Sans"/>
              </a:defRPr>
            </a:defPPr>
          </a:lstStyle>
          <a:p>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Our delivery capabilities</a:t>
            </a:r>
          </a:p>
        </p:txBody>
      </p:sp>
      <p:sp>
        <p:nvSpPr>
          <p:cNvPr id="3" name="Rectangle 2">
            <a:extLst>
              <a:ext uri="{FF2B5EF4-FFF2-40B4-BE49-F238E27FC236}">
                <a16:creationId xmlns:a16="http://schemas.microsoft.com/office/drawing/2014/main" id="{B09910F7-BC21-47E4-817E-001FE5200CA8}"/>
              </a:ext>
            </a:extLst>
          </p:cNvPr>
          <p:cNvSpPr>
            <a:spLocks noGrp="1"/>
          </p:cNvSpPr>
          <p:nvPr/>
        </p:nvSpPr>
        <p:spPr>
          <a:xfrm>
            <a:off x="609600" y="1809750"/>
            <a:ext cx="10972800" cy="647700"/>
          </a:xfrm>
          <a:prstGeom prst="rect">
            <a:avLst/>
          </a:prstGeom>
          <a:noFill/>
          <a:ln w="0">
            <a:noFill/>
          </a:ln>
        </p:spPr>
        <p:txBody>
          <a:bodyPr/>
          <a:lstStyle>
            <a:defPPr>
              <a:defRPr sz="1725" b="0">
                <a:solidFill>
                  <a:srgbClr val="C7D7DC"/>
                </a:solidFill>
                <a:latin typeface="DejaVu Sans"/>
                <a:ea typeface="DejaVu Sans"/>
                <a:cs typeface="DejaVu Sans"/>
              </a:defRPr>
            </a:defPPr>
          </a:lstStyle>
          <a:p>
            <a:pPr>
              <a:defRPr sz="1725" b="0">
                <a:solidFill>
                  <a:srgbClr val="C7D7DC"/>
                </a:solidFill>
                <a:latin typeface="DejaVu Sans"/>
                <a:ea typeface="DejaVu Sans"/>
                <a:cs typeface="DejaVu Sans"/>
              </a:defRPr>
            </a:pPr>
            <a:r>
              <a:rPr sz="1725" b="0">
                <a:solidFill>
                  <a:srgbClr val="C7D7DC"/>
                </a:solidFill>
                <a:latin typeface="DejaVu Sans"/>
                <a:ea typeface="DejaVu Sans"/>
                <a:cs typeface="DejaVu Sans"/>
              </a:rPr>
              <a:t>People and equipment provide the foundation for our next stage of growth</a:t>
            </a:r>
          </a:p>
        </p:txBody>
      </p:sp>
      <p:sp>
        <p:nvSpPr>
          <p:cNvPr id="4" name="Rectangle 3">
            <a:extLst>
              <a:ext uri="{FF2B5EF4-FFF2-40B4-BE49-F238E27FC236}">
                <a16:creationId xmlns:a16="http://schemas.microsoft.com/office/drawing/2014/main" id="{35DEF2A9-BEF4-4B88-9E92-C3D2C039E6EF}"/>
              </a:ext>
            </a:extLst>
          </p:cNvPr>
          <p:cNvSpPr>
            <a:spLocks noGrp="1"/>
          </p:cNvSpPr>
          <p:nvPr/>
        </p:nvSpPr>
        <p:spPr>
          <a:xfrm>
            <a:off x="609600" y="6400800"/>
            <a:ext cx="10287000" cy="228600"/>
          </a:xfrm>
          <a:prstGeom prst="rect">
            <a:avLst/>
          </a:prstGeom>
          <a:noFill/>
          <a:ln w="0">
            <a:noFill/>
          </a:ln>
        </p:spPr>
        <p:txBody>
          <a:bodyPr/>
          <a:lstStyle>
            <a:defPPr>
              <a:defRPr sz="1050" b="0">
                <a:solidFill>
                  <a:srgbClr val="B4C8D0"/>
                </a:solidFill>
                <a:latin typeface="DejaVu Sans"/>
                <a:ea typeface="DejaVu Sans"/>
                <a:cs typeface="DejaVu Sans"/>
              </a:defRPr>
            </a:defPPr>
          </a:lstStyle>
          <a:p>
            <a:pPr>
              <a:defRPr sz="1050" b="0">
                <a:solidFill>
                  <a:srgbClr val="B4C8D0"/>
                </a:solidFill>
                <a:latin typeface="DejaVu Sans"/>
                <a:ea typeface="DejaVu Sans"/>
                <a:cs typeface="DejaVu Sans"/>
              </a:defRPr>
            </a:pPr>
            <a:r>
              <a:rPr sz="1050" b="0">
                <a:solidFill>
                  <a:srgbClr val="B4C8D0"/>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5CFEE69D-38FD-4453-8A97-F6BE07110DB4}"/>
              </a:ext>
            </a:extLst>
          </p:cNvPr>
          <p:cNvSpPr>
            <a:spLocks noGrp="1"/>
          </p:cNvSpPr>
          <p:nvPr/>
        </p:nvSpPr>
        <p:spPr>
          <a:xfrm>
            <a:off x="11087100" y="6381750"/>
            <a:ext cx="495300" cy="266700"/>
          </a:xfrm>
          <a:prstGeom prst="rect">
            <a:avLst/>
          </a:prstGeom>
          <a:noFill/>
          <a:ln w="0">
            <a:noFill/>
          </a:ln>
        </p:spPr>
        <p:txBody>
          <a:bodyPr/>
          <a:lstStyle>
            <a:defPPr>
              <a:defRPr sz="1200" b="0">
                <a:solidFill>
                  <a:srgbClr val="B4C8D0"/>
                </a:solidFill>
                <a:latin typeface="DejaVu Sans"/>
                <a:ea typeface="DejaVu Sans"/>
                <a:cs typeface="DejaVu Sans"/>
              </a:defRPr>
            </a:defPPr>
          </a:lstStyle>
          <a:p>
            <a:pPr>
              <a:defRPr sz="1200" b="0">
                <a:solidFill>
                  <a:srgbClr val="B4C8D0"/>
                </a:solidFill>
                <a:latin typeface="DejaVu Sans"/>
                <a:ea typeface="DejaVu Sans"/>
                <a:cs typeface="DejaVu Sans"/>
              </a:defRPr>
            </a:pPr>
            <a:r>
              <a:rPr sz="1200" b="0">
                <a:solidFill>
                  <a:srgbClr val="B4C8D0"/>
                </a:solidFill>
                <a:latin typeface="DejaVu Sans"/>
                <a:ea typeface="DejaVu Sans"/>
                <a:cs typeface="DejaVu Sans"/>
              </a:rPr>
              <a:t>01</a:t>
            </a:r>
          </a:p>
        </p:txBody>
      </p:sp>
      <p:sp>
        <p:nvSpPr>
          <p:cNvPr id="6" name="Rectangle 5">
            <a:extLst>
              <a:ext uri="{FF2B5EF4-FFF2-40B4-BE49-F238E27FC236}">
                <a16:creationId xmlns:a16="http://schemas.microsoft.com/office/drawing/2014/main" id="{9F76F390-0A25-4738-BC7D-64B21CAF9CA1}"/>
              </a:ext>
            </a:extLst>
          </p:cNvPr>
          <p:cNvSpPr>
            <a:spLocks noGrp="1"/>
          </p:cNvSpPr>
          <p:nvPr/>
        </p:nvSpPr>
        <p:spPr>
          <a:xfrm>
            <a:off x="609600" y="2809875"/>
            <a:ext cx="5048250" cy="381000"/>
          </a:xfrm>
          <a:prstGeom prst="rect">
            <a:avLst/>
          </a:prstGeom>
          <a:noFill/>
          <a:ln w="0">
            <a:noFill/>
          </a:ln>
        </p:spPr>
        <p:txBody>
          <a:bodyPr/>
          <a:lstStyle>
            <a:defPPr>
              <a:defRPr sz="2100" b="1">
                <a:solidFill>
                  <a:srgbClr val="FFFFFF"/>
                </a:solidFill>
                <a:latin typeface="DejaVu Sans"/>
                <a:ea typeface="DejaVu Sans"/>
                <a:cs typeface="DejaVu Sans"/>
              </a:defRPr>
            </a:defPPr>
          </a:lstStyle>
          <a:p>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Workforce</a:t>
            </a:r>
          </a:p>
        </p:txBody>
      </p:sp>
      <p:sp>
        <p:nvSpPr>
          <p:cNvPr id="7" name="Rectangle 6">
            <a:extLst>
              <a:ext uri="{FF2B5EF4-FFF2-40B4-BE49-F238E27FC236}">
                <a16:creationId xmlns:a16="http://schemas.microsoft.com/office/drawing/2014/main" id="{BE477ADD-5247-437D-A98E-663D025AC596}"/>
              </a:ext>
            </a:extLst>
          </p:cNvPr>
          <p:cNvSpPr>
            <a:spLocks noGrp="1"/>
          </p:cNvSpPr>
          <p:nvPr/>
        </p:nvSpPr>
        <p:spPr>
          <a:xfrm>
            <a:off x="609600" y="3314700"/>
            <a:ext cx="5048250" cy="400050"/>
          </a:xfrm>
          <a:prstGeom prst="rect">
            <a:avLst/>
          </a:prstGeom>
          <a:noFill/>
          <a:ln w="0">
            <a:noFill/>
          </a:ln>
        </p:spPr>
        <p:txBody>
          <a:bodyPr/>
          <a:lstStyle>
            <a:defPPr>
              <a:defRPr sz="1650" b="0">
                <a:solidFill>
                  <a:srgbClr val="C7D7DC"/>
                </a:solidFill>
                <a:latin typeface="DejaVu Sans"/>
                <a:ea typeface="DejaVu Sans"/>
                <a:cs typeface="DejaVu Sans"/>
              </a:defRPr>
            </a:defPPr>
          </a:lstStyle>
          <a:p>
            <a:pPr>
              <a:defRPr sz="1650" b="0">
                <a:solidFill>
                  <a:srgbClr val="C7D7DC"/>
                </a:solidFill>
                <a:latin typeface="DejaVu Sans"/>
                <a:ea typeface="DejaVu Sans"/>
                <a:cs typeface="DejaVu Sans"/>
              </a:defRPr>
            </a:pPr>
            <a:r>
              <a:rPr sz="1650" b="0">
                <a:solidFill>
                  <a:srgbClr val="C7D7DC"/>
                </a:solidFill>
                <a:latin typeface="DejaVu Sans"/>
                <a:ea typeface="DejaVu Sans"/>
                <a:cs typeface="DejaVu Sans"/>
              </a:rPr>
              <a:t>Site operatives and skilled trades</a:t>
            </a:r>
          </a:p>
        </p:txBody>
      </p:sp>
      <p:sp>
        <p:nvSpPr>
          <p:cNvPr id="8" name="Rectangle 7">
            <a:extLst>
              <a:ext uri="{FF2B5EF4-FFF2-40B4-BE49-F238E27FC236}">
                <a16:creationId xmlns:a16="http://schemas.microsoft.com/office/drawing/2014/main" id="{486F315E-F725-4A8A-A280-89639DE70B0F}"/>
              </a:ext>
            </a:extLst>
          </p:cNvPr>
          <p:cNvSpPr>
            <a:spLocks noGrp="1"/>
          </p:cNvSpPr>
          <p:nvPr/>
        </p:nvSpPr>
        <p:spPr>
          <a:xfrm>
            <a:off x="609600" y="3819525"/>
            <a:ext cx="5048250" cy="381000"/>
          </a:xfrm>
          <a:prstGeom prst="rect">
            <a:avLst/>
          </a:prstGeom>
          <a:noFill/>
          <a:ln w="0">
            <a:noFill/>
          </a:ln>
        </p:spPr>
        <p:txBody>
          <a:bodyPr lIns="91440" tIns="45720" rIns="91440" bIns="45720" anchor="t"/>
          <a:lstStyle>
            <a:defPPr>
              <a:defRPr sz="1650" b="0">
                <a:solidFill>
                  <a:srgbClr val="68CCCE"/>
                </a:solidFill>
                <a:latin typeface="DejaVu Sans"/>
                <a:ea typeface="DejaVu Sans"/>
                <a:cs typeface="DejaVu Sans"/>
              </a:defRPr>
            </a:defPPr>
          </a:lstStyle>
          <a:p>
            <a:pPr>
              <a:defRPr sz="1650" b="0">
                <a:solidFill>
                  <a:srgbClr val="68CCCE"/>
                </a:solidFill>
                <a:latin typeface="DejaVu Sans"/>
                <a:ea typeface="DejaVu Sans"/>
                <a:cs typeface="DejaVu Sans"/>
              </a:defRPr>
            </a:pPr>
            <a:r>
              <a:rPr sz="1650" b="0" dirty="0">
                <a:solidFill>
                  <a:srgbClr val="68CCCE"/>
                </a:solidFill>
                <a:latin typeface="DejaVu Sans"/>
                <a:ea typeface="DejaVu Sans"/>
                <a:cs typeface="DejaVu Sans"/>
              </a:rPr>
              <a:t>2026 headcount: </a:t>
            </a:r>
            <a:r>
              <a:rPr lang="en-US" sz="1650" b="1">
                <a:solidFill>
                  <a:srgbClr val="68CCCE"/>
                </a:solidFill>
                <a:ea typeface="+mn-lt"/>
                <a:cs typeface="+mn-lt"/>
              </a:rPr>
              <a:t>1295</a:t>
            </a:r>
            <a:endParaRPr sz="1650" b="0" dirty="0">
              <a:solidFill>
                <a:srgbClr val="68CCCE"/>
              </a:solidFill>
              <a:latin typeface="DejaVu Sans"/>
              <a:ea typeface="DejaVu Sans"/>
              <a:cs typeface="DejaVu Sans"/>
            </a:endParaRPr>
          </a:p>
        </p:txBody>
      </p:sp>
      <p:sp>
        <p:nvSpPr>
          <p:cNvPr id="9" name="Rectangle 8">
            <a:extLst>
              <a:ext uri="{FF2B5EF4-FFF2-40B4-BE49-F238E27FC236}">
                <a16:creationId xmlns:a16="http://schemas.microsoft.com/office/drawing/2014/main" id="{F5F85838-1F4C-49E3-AEAD-83683C35B580}"/>
              </a:ext>
            </a:extLst>
          </p:cNvPr>
          <p:cNvSpPr>
            <a:spLocks noGrp="1"/>
          </p:cNvSpPr>
          <p:nvPr/>
        </p:nvSpPr>
        <p:spPr>
          <a:xfrm>
            <a:off x="6438900" y="2809875"/>
            <a:ext cx="5048250" cy="381000"/>
          </a:xfrm>
          <a:prstGeom prst="rect">
            <a:avLst/>
          </a:prstGeom>
          <a:noFill/>
          <a:ln w="0">
            <a:noFill/>
          </a:ln>
        </p:spPr>
        <p:txBody>
          <a:bodyPr/>
          <a:lstStyle>
            <a:defPPr>
              <a:defRPr sz="2100" b="1">
                <a:solidFill>
                  <a:srgbClr val="FFFFFF"/>
                </a:solidFill>
                <a:latin typeface="DejaVu Sans"/>
                <a:ea typeface="DejaVu Sans"/>
                <a:cs typeface="DejaVu Sans"/>
              </a:defRPr>
            </a:defPPr>
          </a:lstStyle>
          <a:p>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Staff</a:t>
            </a:r>
          </a:p>
        </p:txBody>
      </p:sp>
      <p:sp>
        <p:nvSpPr>
          <p:cNvPr id="10" name="Rectangle 9">
            <a:extLst>
              <a:ext uri="{FF2B5EF4-FFF2-40B4-BE49-F238E27FC236}">
                <a16:creationId xmlns:a16="http://schemas.microsoft.com/office/drawing/2014/main" id="{C7ADCE12-CCC0-4EA8-BAE7-020802DEFF0D}"/>
              </a:ext>
            </a:extLst>
          </p:cNvPr>
          <p:cNvSpPr>
            <a:spLocks noGrp="1"/>
          </p:cNvSpPr>
          <p:nvPr/>
        </p:nvSpPr>
        <p:spPr>
          <a:xfrm>
            <a:off x="6438900" y="3314700"/>
            <a:ext cx="5048250" cy="400050"/>
          </a:xfrm>
          <a:prstGeom prst="rect">
            <a:avLst/>
          </a:prstGeom>
          <a:noFill/>
          <a:ln w="0">
            <a:noFill/>
          </a:ln>
        </p:spPr>
        <p:txBody>
          <a:bodyPr/>
          <a:lstStyle>
            <a:defPPr>
              <a:defRPr sz="1650" b="0">
                <a:solidFill>
                  <a:srgbClr val="C7D7DC"/>
                </a:solidFill>
                <a:latin typeface="DejaVu Sans"/>
                <a:ea typeface="DejaVu Sans"/>
                <a:cs typeface="DejaVu Sans"/>
              </a:defRPr>
            </a:defPPr>
          </a:lstStyle>
          <a:p>
            <a:pPr>
              <a:defRPr sz="1650" b="0">
                <a:solidFill>
                  <a:srgbClr val="C7D7DC"/>
                </a:solidFill>
                <a:latin typeface="DejaVu Sans"/>
                <a:ea typeface="DejaVu Sans"/>
                <a:cs typeface="DejaVu Sans"/>
              </a:defRPr>
            </a:pPr>
            <a:r>
              <a:rPr sz="1650" b="0">
                <a:solidFill>
                  <a:srgbClr val="C7D7DC"/>
                </a:solidFill>
                <a:latin typeface="DejaVu Sans"/>
                <a:ea typeface="DejaVu Sans"/>
                <a:cs typeface="DejaVu Sans"/>
              </a:rPr>
              <a:t>Engineering, management and support</a:t>
            </a:r>
          </a:p>
        </p:txBody>
      </p:sp>
      <p:sp>
        <p:nvSpPr>
          <p:cNvPr id="11" name="Rectangle 10">
            <a:extLst>
              <a:ext uri="{FF2B5EF4-FFF2-40B4-BE49-F238E27FC236}">
                <a16:creationId xmlns:a16="http://schemas.microsoft.com/office/drawing/2014/main" id="{D87C62C7-7DED-4C45-9FDF-5C4174D6DC29}"/>
              </a:ext>
            </a:extLst>
          </p:cNvPr>
          <p:cNvSpPr>
            <a:spLocks noGrp="1"/>
          </p:cNvSpPr>
          <p:nvPr/>
        </p:nvSpPr>
        <p:spPr>
          <a:xfrm>
            <a:off x="6438900" y="3819525"/>
            <a:ext cx="5048250" cy="381000"/>
          </a:xfrm>
          <a:prstGeom prst="rect">
            <a:avLst/>
          </a:prstGeom>
          <a:noFill/>
          <a:ln w="0">
            <a:noFill/>
          </a:ln>
        </p:spPr>
        <p:txBody>
          <a:bodyPr lIns="91440" tIns="45720" rIns="91440" bIns="45720" anchor="t"/>
          <a:lstStyle>
            <a:defPPr>
              <a:defRPr sz="1650" b="0">
                <a:solidFill>
                  <a:srgbClr val="68CCCE"/>
                </a:solidFill>
                <a:latin typeface="DejaVu Sans"/>
                <a:ea typeface="DejaVu Sans"/>
                <a:cs typeface="DejaVu Sans"/>
              </a:defRPr>
            </a:defPPr>
          </a:lstStyle>
          <a:p>
            <a:pPr>
              <a:defRPr sz="1650" b="0">
                <a:solidFill>
                  <a:srgbClr val="68CCCE"/>
                </a:solidFill>
                <a:latin typeface="DejaVu Sans"/>
                <a:ea typeface="DejaVu Sans"/>
                <a:cs typeface="DejaVu Sans"/>
              </a:defRPr>
            </a:pPr>
            <a:r>
              <a:rPr sz="1650" b="0" dirty="0">
                <a:solidFill>
                  <a:srgbClr val="68CCCE"/>
                </a:solidFill>
                <a:latin typeface="DejaVu Sans"/>
                <a:ea typeface="DejaVu Sans"/>
                <a:cs typeface="DejaVu Sans"/>
              </a:rPr>
              <a:t>2026 headcount: </a:t>
            </a:r>
            <a:r>
              <a:rPr lang="en-US" sz="1650">
                <a:solidFill>
                  <a:srgbClr val="68CCCE"/>
                </a:solidFill>
                <a:latin typeface="DejaVu Sans"/>
                <a:ea typeface="DejaVu Sans"/>
                <a:cs typeface="DejaVu Sans"/>
              </a:rPr>
              <a:t>2136</a:t>
            </a:r>
            <a:endParaRPr sz="1650" b="0" dirty="0">
              <a:solidFill>
                <a:srgbClr val="68CCCE"/>
              </a:solidFill>
              <a:latin typeface="DejaVu Sans"/>
              <a:ea typeface="DejaVu Sans"/>
              <a:cs typeface="DejaVu Sans"/>
            </a:endParaRPr>
          </a:p>
        </p:txBody>
      </p:sp>
      <p:sp>
        <p:nvSpPr>
          <p:cNvPr id="12" name="Rectangle 11">
            <a:extLst>
              <a:ext uri="{FF2B5EF4-FFF2-40B4-BE49-F238E27FC236}">
                <a16:creationId xmlns:a16="http://schemas.microsoft.com/office/drawing/2014/main" id="{6438A04C-1ABF-4260-9AEC-FD969495A10A}"/>
              </a:ext>
            </a:extLst>
          </p:cNvPr>
          <p:cNvSpPr>
            <a:spLocks noGrp="1"/>
          </p:cNvSpPr>
          <p:nvPr/>
        </p:nvSpPr>
        <p:spPr>
          <a:xfrm>
            <a:off x="609600" y="4467225"/>
            <a:ext cx="3714750" cy="762000"/>
          </a:xfrm>
          <a:prstGeom prst="rect">
            <a:avLst/>
          </a:prstGeom>
          <a:noFill/>
          <a:ln w="0">
            <a:noFill/>
          </a:ln>
        </p:spPr>
        <p:txBody>
          <a:bodyPr/>
          <a:lstStyle>
            <a:defPPr>
              <a:defRPr sz="4350" b="1">
                <a:solidFill>
                  <a:srgbClr val="68CCCE"/>
                </a:solidFill>
                <a:latin typeface="DejaVu Sans"/>
                <a:ea typeface="DejaVu Sans"/>
                <a:cs typeface="DejaVu Sans"/>
              </a:defRPr>
            </a:defPPr>
          </a:lstStyle>
          <a:p>
            <a:pPr>
              <a:defRPr sz="4350" b="1">
                <a:solidFill>
                  <a:srgbClr val="68CCCE"/>
                </a:solidFill>
                <a:latin typeface="DejaVu Sans"/>
                <a:ea typeface="DejaVu Sans"/>
                <a:cs typeface="DejaVu Sans"/>
              </a:defRPr>
            </a:pPr>
            <a:r>
              <a:rPr lang="en-US" sz="4350" b="1" dirty="0">
                <a:solidFill>
                  <a:srgbClr val="68CCCE"/>
                </a:solidFill>
                <a:latin typeface="DejaVu Sans"/>
                <a:ea typeface="DejaVu Sans"/>
                <a:cs typeface="DejaVu Sans"/>
              </a:rPr>
              <a:t>600</a:t>
            </a:r>
            <a:r>
              <a:rPr sz="4350" b="1" dirty="0">
                <a:solidFill>
                  <a:srgbClr val="68CCCE"/>
                </a:solidFill>
                <a:latin typeface="DejaVu Sans"/>
                <a:ea typeface="DejaVu Sans"/>
                <a:cs typeface="DejaVu Sans"/>
              </a:rPr>
              <a:t>+</a:t>
            </a:r>
          </a:p>
        </p:txBody>
      </p:sp>
      <p:sp>
        <p:nvSpPr>
          <p:cNvPr id="13" name="Rectangle 12">
            <a:extLst>
              <a:ext uri="{FF2B5EF4-FFF2-40B4-BE49-F238E27FC236}">
                <a16:creationId xmlns:a16="http://schemas.microsoft.com/office/drawing/2014/main" id="{4D7B60A7-1450-453C-BEF7-CB6A6231F9C7}"/>
              </a:ext>
            </a:extLst>
          </p:cNvPr>
          <p:cNvSpPr>
            <a:spLocks noGrp="1"/>
          </p:cNvSpPr>
          <p:nvPr/>
        </p:nvSpPr>
        <p:spPr>
          <a:xfrm>
            <a:off x="609600" y="5295900"/>
            <a:ext cx="5048250" cy="381000"/>
          </a:xfrm>
          <a:prstGeom prst="rect">
            <a:avLst/>
          </a:prstGeom>
          <a:noFill/>
          <a:ln w="0">
            <a:noFill/>
          </a:ln>
        </p:spPr>
        <p:txBody>
          <a:bodyPr/>
          <a:lstStyle>
            <a:defPPr>
              <a:defRPr sz="1950" b="1">
                <a:solidFill>
                  <a:srgbClr val="FFFFFF"/>
                </a:solidFill>
                <a:latin typeface="DejaVu Sans"/>
                <a:ea typeface="DejaVu Sans"/>
                <a:cs typeface="DejaVu Sans"/>
              </a:defRPr>
            </a:defPPr>
          </a:lstStyle>
          <a:p>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Fleet units</a:t>
            </a:r>
          </a:p>
        </p:txBody>
      </p:sp>
      <p:sp>
        <p:nvSpPr>
          <p:cNvPr id="14" name="Rectangle 13">
            <a:extLst>
              <a:ext uri="{FF2B5EF4-FFF2-40B4-BE49-F238E27FC236}">
                <a16:creationId xmlns:a16="http://schemas.microsoft.com/office/drawing/2014/main" id="{178163BC-1DE7-4187-8BF2-A7E4F4E48271}"/>
              </a:ext>
            </a:extLst>
          </p:cNvPr>
          <p:cNvSpPr>
            <a:spLocks noGrp="1"/>
          </p:cNvSpPr>
          <p:nvPr/>
        </p:nvSpPr>
        <p:spPr>
          <a:xfrm>
            <a:off x="6438900" y="4533900"/>
            <a:ext cx="5048250" cy="419100"/>
          </a:xfrm>
          <a:prstGeom prst="rect">
            <a:avLst/>
          </a:prstGeom>
          <a:noFill/>
          <a:ln w="0">
            <a:noFill/>
          </a:ln>
        </p:spPr>
        <p:txBody>
          <a:bodyPr/>
          <a:lstStyle>
            <a:defPPr>
              <a:defRPr sz="2100" b="1">
                <a:solidFill>
                  <a:srgbClr val="FFFFFF"/>
                </a:solidFill>
                <a:latin typeface="DejaVu Sans"/>
                <a:ea typeface="DejaVu Sans"/>
                <a:cs typeface="DejaVu Sans"/>
              </a:defRPr>
            </a:defPPr>
          </a:lstStyle>
          <a:p>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Heavy equipment</a:t>
            </a:r>
          </a:p>
        </p:txBody>
      </p:sp>
      <p:sp>
        <p:nvSpPr>
          <p:cNvPr id="15" name="Rectangle 14">
            <a:extLst>
              <a:ext uri="{FF2B5EF4-FFF2-40B4-BE49-F238E27FC236}">
                <a16:creationId xmlns:a16="http://schemas.microsoft.com/office/drawing/2014/main" id="{4D6B1D2E-9DF8-4970-AFFE-6EDD564112BF}"/>
              </a:ext>
            </a:extLst>
          </p:cNvPr>
          <p:cNvSpPr>
            <a:spLocks noGrp="1"/>
          </p:cNvSpPr>
          <p:nvPr/>
        </p:nvSpPr>
        <p:spPr>
          <a:xfrm>
            <a:off x="6438900" y="5105400"/>
            <a:ext cx="5048250" cy="400050"/>
          </a:xfrm>
          <a:prstGeom prst="rect">
            <a:avLst/>
          </a:prstGeom>
          <a:noFill/>
          <a:ln w="0">
            <a:noFill/>
          </a:ln>
        </p:spPr>
        <p:txBody>
          <a:bodyPr/>
          <a:lstStyle>
            <a:defPPr>
              <a:defRPr sz="1650" b="0">
                <a:solidFill>
                  <a:srgbClr val="68CCCE"/>
                </a:solidFill>
                <a:latin typeface="DejaVu Sans"/>
                <a:ea typeface="DejaVu Sans"/>
                <a:cs typeface="DejaVu Sans"/>
              </a:defRPr>
            </a:defPPr>
          </a:lstStyle>
          <a:p>
            <a:pPr>
              <a:defRPr sz="1650" b="0">
                <a:solidFill>
                  <a:srgbClr val="68CCCE"/>
                </a:solidFill>
                <a:latin typeface="DejaVu Sans"/>
                <a:ea typeface="DejaVu Sans"/>
                <a:cs typeface="DejaVu Sans"/>
              </a:defRPr>
            </a:pPr>
            <a:r>
              <a:rPr sz="1650" b="0" dirty="0">
                <a:solidFill>
                  <a:srgbClr val="68CCCE"/>
                </a:solidFill>
                <a:latin typeface="DejaVu Sans"/>
                <a:ea typeface="DejaVu Sans"/>
                <a:cs typeface="DejaVu Sans"/>
              </a:rPr>
              <a:t>2026 unit count: </a:t>
            </a:r>
            <a:r>
              <a:rPr lang="en-US" sz="1650" b="0" dirty="0">
                <a:solidFill>
                  <a:srgbClr val="68CCCE"/>
                </a:solidFill>
                <a:latin typeface="DejaVu Sans"/>
                <a:ea typeface="DejaVu Sans"/>
                <a:cs typeface="DejaVu Sans"/>
              </a:rPr>
              <a:t>180+ </a:t>
            </a:r>
          </a:p>
          <a:p>
            <a:pPr>
              <a:defRPr sz="1650" b="0">
                <a:solidFill>
                  <a:srgbClr val="68CCCE"/>
                </a:solidFill>
                <a:latin typeface="DejaVu Sans"/>
                <a:ea typeface="DejaVu Sans"/>
                <a:cs typeface="DejaVu Sans"/>
              </a:defRPr>
            </a:pPr>
            <a:endParaRPr sz="1650" b="0" dirty="0">
              <a:solidFill>
                <a:srgbClr val="68CCCE"/>
              </a:solidFill>
              <a:latin typeface="DejaVu Sans"/>
              <a:ea typeface="DejaVu Sans"/>
              <a:cs typeface="DejaVu Sans"/>
            </a:endParaRPr>
          </a:p>
        </p:txBody>
      </p:sp>
    </p:spTree>
    <p:extLst>
      <p:ext uri="{BB962C8B-B14F-4D97-AF65-F5344CB8AC3E}">
        <p14:creationId xmlns:p14="http://schemas.microsoft.com/office/powerpoint/2010/main" val="193178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3AD225B-54FA-462D-89EF-A8A97172AE6E}"/>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B66F5BDE-9168-41DC-A718-3B5C795C2DD6}"/>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Our competitive advantage</a:t>
            </a:r>
          </a:p>
        </p:txBody>
      </p:sp>
      <p:sp>
        <p:nvSpPr>
          <p:cNvPr id="3" name="Rectangle 2">
            <a:extLst>
              <a:ext uri="{FF2B5EF4-FFF2-40B4-BE49-F238E27FC236}">
                <a16:creationId xmlns:a16="http://schemas.microsoft.com/office/drawing/2014/main" id="{5657721C-CAB3-4E51-AF99-E78109B1DBFD}"/>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dirty="0">
                <a:solidFill>
                  <a:srgbClr val="60727B"/>
                </a:solidFill>
                <a:latin typeface="DejaVu Sans"/>
                <a:ea typeface="DejaVu Sans"/>
                <a:cs typeface="DejaVu Sans"/>
              </a:rPr>
              <a:t>A company established only 4 years ago, with the ambition to compete with major industry players</a:t>
            </a:r>
            <a:r>
              <a:rPr lang="en-US" sz="1725" b="0" dirty="0">
                <a:solidFill>
                  <a:srgbClr val="60727B"/>
                </a:solidFill>
                <a:latin typeface="DejaVu Sans"/>
                <a:ea typeface="DejaVu Sans"/>
                <a:cs typeface="DejaVu Sans"/>
              </a:rPr>
              <a:t> in the market.</a:t>
            </a:r>
            <a:endParaRPr sz="1725" b="0" dirty="0">
              <a:solidFill>
                <a:srgbClr val="60727B"/>
              </a:solidFill>
              <a:latin typeface="DejaVu Sans"/>
              <a:ea typeface="DejaVu Sans"/>
              <a:cs typeface="DejaVu Sans"/>
            </a:endParaRPr>
          </a:p>
        </p:txBody>
      </p:sp>
      <p:sp>
        <p:nvSpPr>
          <p:cNvPr id="4" name="Rectangle 3">
            <a:extLst>
              <a:ext uri="{FF2B5EF4-FFF2-40B4-BE49-F238E27FC236}">
                <a16:creationId xmlns:a16="http://schemas.microsoft.com/office/drawing/2014/main" id="{21B6D962-7B9F-4D47-839D-839C36BD251B}"/>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10B9159A-6BE0-4622-9264-240E3EEDB8BB}"/>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02</a:t>
            </a:r>
          </a:p>
        </p:txBody>
      </p:sp>
      <p:sp>
        <p:nvSpPr>
          <p:cNvPr id="6" name="Rectangle 5">
            <a:extLst>
              <a:ext uri="{FF2B5EF4-FFF2-40B4-BE49-F238E27FC236}">
                <a16:creationId xmlns:a16="http://schemas.microsoft.com/office/drawing/2014/main" id="{9C21B1A7-ACB5-4052-B3DD-E70FA290DB2C}"/>
              </a:ext>
            </a:extLst>
          </p:cNvPr>
          <p:cNvSpPr>
            <a:spLocks noGrp="1"/>
          </p:cNvSpPr>
          <p:nvPr/>
        </p:nvSpPr>
        <p:spPr>
          <a:xfrm>
            <a:off x="609600" y="2857500"/>
            <a:ext cx="4476750" cy="1333500"/>
          </a:xfrm>
          <a:prstGeom prst="rect">
            <a:avLst/>
          </a:prstGeom>
          <a:noFill/>
          <a:ln w="0">
            <a:noFill/>
          </a:ln>
        </p:spPr>
        <p:txBody>
          <a:bodyPr/>
          <a:lstStyle>
            <a:defPPr>
              <a:defRPr sz="3000" b="1">
                <a:solidFill>
                  <a:srgbClr val="007F83"/>
                </a:solidFill>
                <a:latin typeface="DejaVu Sans"/>
                <a:ea typeface="DejaVu Sans"/>
                <a:cs typeface="DejaVu Sans"/>
              </a:defRPr>
            </a:defPPr>
          </a:lstStyle>
          <a:p>
            <a:pPr>
              <a:defRPr sz="3000" b="1">
                <a:solidFill>
                  <a:srgbClr val="007F83"/>
                </a:solidFill>
                <a:latin typeface="DejaVu Sans"/>
                <a:ea typeface="DejaVu Sans"/>
                <a:cs typeface="DejaVu Sans"/>
              </a:defRPr>
            </a:pPr>
            <a:r>
              <a:rPr sz="3000" b="1" dirty="0">
                <a:solidFill>
                  <a:srgbClr val="007F83"/>
                </a:solidFill>
                <a:latin typeface="DejaVu Sans"/>
                <a:ea typeface="DejaVu Sans"/>
                <a:cs typeface="DejaVu Sans"/>
              </a:rPr>
              <a:t>Innovation </a:t>
            </a:r>
            <a:r>
              <a:rPr lang="en-US" sz="3000" b="1" dirty="0">
                <a:solidFill>
                  <a:srgbClr val="007F83"/>
                </a:solidFill>
                <a:latin typeface="DejaVu Sans"/>
                <a:ea typeface="DejaVu Sans"/>
                <a:cs typeface="DejaVu Sans"/>
              </a:rPr>
              <a:t>is about creating values</a:t>
            </a:r>
            <a:endParaRPr sz="3000" b="1" dirty="0">
              <a:solidFill>
                <a:srgbClr val="007F83"/>
              </a:solidFill>
              <a:latin typeface="DejaVu Sans"/>
              <a:ea typeface="DejaVu Sans"/>
              <a:cs typeface="DejaVu Sans"/>
            </a:endParaRPr>
          </a:p>
        </p:txBody>
      </p:sp>
      <p:sp>
        <p:nvSpPr>
          <p:cNvPr id="7" name="Rectangle 6">
            <a:extLst>
              <a:ext uri="{FF2B5EF4-FFF2-40B4-BE49-F238E27FC236}">
                <a16:creationId xmlns:a16="http://schemas.microsoft.com/office/drawing/2014/main" id="{6BA1AFE5-0628-48A5-8C5A-4A850D4F21DD}"/>
              </a:ext>
            </a:extLst>
          </p:cNvPr>
          <p:cNvSpPr>
            <a:spLocks noGrp="1"/>
          </p:cNvSpPr>
          <p:nvPr/>
        </p:nvSpPr>
        <p:spPr>
          <a:xfrm>
            <a:off x="609600" y="4429125"/>
            <a:ext cx="4476750" cy="1285875"/>
          </a:xfrm>
          <a:prstGeom prst="rect">
            <a:avLst/>
          </a:prstGeom>
          <a:noFill/>
          <a:ln w="0">
            <a:noFill/>
          </a:ln>
        </p:spPr>
        <p:txBody>
          <a:bodyPr/>
          <a:lstStyle>
            <a:defPPr>
              <a:defRPr sz="2100" b="1">
                <a:solidFill>
                  <a:srgbClr val="20333D"/>
                </a:solidFill>
                <a:latin typeface="DejaVu Sans"/>
                <a:ea typeface="DejaVu Sans"/>
                <a:cs typeface="DejaVu Sans"/>
              </a:defRPr>
            </a:defPPr>
          </a:lstStyle>
          <a:p>
            <a:pPr>
              <a:defRPr sz="2100" b="1">
                <a:solidFill>
                  <a:srgbClr val="20333D"/>
                </a:solidFill>
                <a:latin typeface="DejaVu Sans"/>
                <a:ea typeface="DejaVu Sans"/>
                <a:cs typeface="DejaVu Sans"/>
              </a:defRPr>
            </a:pPr>
            <a:r>
              <a:rPr sz="2100" b="1">
                <a:solidFill>
                  <a:srgbClr val="20333D"/>
                </a:solidFill>
                <a:latin typeface="DejaVu Sans"/>
                <a:ea typeface="DejaVu Sans"/>
                <a:cs typeface="DejaVu Sans"/>
              </a:rPr>
              <a:t>Practical technology that delivers better project results</a:t>
            </a:r>
          </a:p>
        </p:txBody>
      </p:sp>
      <p:sp>
        <p:nvSpPr>
          <p:cNvPr id="8" name="Rectangle 7">
            <a:extLst>
              <a:ext uri="{FF2B5EF4-FFF2-40B4-BE49-F238E27FC236}">
                <a16:creationId xmlns:a16="http://schemas.microsoft.com/office/drawing/2014/main" id="{893F94D2-BD58-424F-AA85-106B20440DD2}"/>
              </a:ext>
            </a:extLst>
          </p:cNvPr>
          <p:cNvSpPr>
            <a:spLocks noGrp="1"/>
          </p:cNvSpPr>
          <p:nvPr/>
        </p:nvSpPr>
        <p:spPr>
          <a:xfrm>
            <a:off x="5753100" y="2809875"/>
            <a:ext cx="5676900" cy="381000"/>
          </a:xfrm>
          <a:prstGeom prst="rect">
            <a:avLst/>
          </a:prstGeom>
          <a:noFill/>
          <a:ln w="0">
            <a:noFill/>
          </a:ln>
        </p:spPr>
        <p:txBody>
          <a:bodyPr/>
          <a:lstStyle>
            <a:defPPr>
              <a:defRPr sz="1950" b="1">
                <a:solidFill>
                  <a:srgbClr val="20333D"/>
                </a:solidFill>
                <a:latin typeface="DejaVu Sans"/>
                <a:ea typeface="DejaVu Sans"/>
                <a:cs typeface="DejaVu Sans"/>
              </a:defRPr>
            </a:defPPr>
          </a:lstStyle>
          <a:p>
            <a:pPr>
              <a:defRPr sz="1950" b="1">
                <a:solidFill>
                  <a:srgbClr val="20333D"/>
                </a:solidFill>
                <a:latin typeface="DejaVu Sans"/>
                <a:ea typeface="DejaVu Sans"/>
                <a:cs typeface="DejaVu Sans"/>
              </a:defRPr>
            </a:pPr>
            <a:r>
              <a:rPr sz="1950" b="1" dirty="0">
                <a:solidFill>
                  <a:srgbClr val="20333D"/>
                </a:solidFill>
                <a:latin typeface="DejaVu Sans"/>
                <a:ea typeface="DejaVu Sans"/>
                <a:cs typeface="DejaVu Sans"/>
              </a:rPr>
              <a:t>New ideas</a:t>
            </a:r>
          </a:p>
        </p:txBody>
      </p:sp>
      <p:sp>
        <p:nvSpPr>
          <p:cNvPr id="9" name="Rectangle 8">
            <a:extLst>
              <a:ext uri="{FF2B5EF4-FFF2-40B4-BE49-F238E27FC236}">
                <a16:creationId xmlns:a16="http://schemas.microsoft.com/office/drawing/2014/main" id="{F99C2B86-FAF2-493A-8D9E-7CAF68B3FF4D}"/>
              </a:ext>
            </a:extLst>
          </p:cNvPr>
          <p:cNvSpPr>
            <a:spLocks noGrp="1"/>
          </p:cNvSpPr>
          <p:nvPr/>
        </p:nvSpPr>
        <p:spPr>
          <a:xfrm>
            <a:off x="5905500" y="3181350"/>
            <a:ext cx="5676900" cy="619125"/>
          </a:xfrm>
          <a:prstGeom prst="rect">
            <a:avLst/>
          </a:prstGeom>
          <a:noFill/>
          <a:ln w="0">
            <a:noFill/>
          </a:ln>
        </p:spPr>
        <p:txBody>
          <a:bodyPr/>
          <a:lstStyle>
            <a:defPPr>
              <a:defRPr sz="1575" b="0">
                <a:solidFill>
                  <a:srgbClr val="60727B"/>
                </a:solidFill>
                <a:latin typeface="DejaVu Sans"/>
                <a:ea typeface="DejaVu Sans"/>
                <a:cs typeface="DejaVu Sans"/>
              </a:defRPr>
            </a:defPPr>
          </a:lstStyle>
          <a:p>
            <a:pPr>
              <a:defRPr sz="1575" b="0">
                <a:solidFill>
                  <a:srgbClr val="60727B"/>
                </a:solidFill>
                <a:latin typeface="DejaVu Sans"/>
                <a:ea typeface="DejaVu Sans"/>
                <a:cs typeface="DejaVu Sans"/>
              </a:defRPr>
            </a:pPr>
            <a:r>
              <a:rPr sz="1575" b="0" dirty="0">
                <a:solidFill>
                  <a:srgbClr val="60727B"/>
                </a:solidFill>
                <a:latin typeface="DejaVu Sans"/>
                <a:ea typeface="DejaVu Sans"/>
                <a:cs typeface="DejaVu Sans"/>
              </a:rPr>
              <a:t>Challenge conventional methods and develop better ways to </a:t>
            </a:r>
            <a:r>
              <a:rPr lang="en-US" sz="1575" b="0" dirty="0">
                <a:solidFill>
                  <a:srgbClr val="60727B"/>
                </a:solidFill>
                <a:latin typeface="DejaVu Sans"/>
                <a:ea typeface="DejaVu Sans"/>
                <a:cs typeface="DejaVu Sans"/>
              </a:rPr>
              <a:t>faster </a:t>
            </a:r>
            <a:r>
              <a:rPr sz="1575" b="0" dirty="0">
                <a:solidFill>
                  <a:srgbClr val="60727B"/>
                </a:solidFill>
                <a:latin typeface="DejaVu Sans"/>
                <a:ea typeface="DejaVu Sans"/>
                <a:cs typeface="DejaVu Sans"/>
              </a:rPr>
              <a:t>deliver</a:t>
            </a:r>
            <a:r>
              <a:rPr lang="en-US" sz="1575" dirty="0">
                <a:solidFill>
                  <a:srgbClr val="60727B"/>
                </a:solidFill>
                <a:latin typeface="DejaVu Sans"/>
                <a:ea typeface="DejaVu Sans"/>
                <a:cs typeface="DejaVu Sans"/>
              </a:rPr>
              <a:t> and improve quality.</a:t>
            </a:r>
            <a:endParaRPr sz="1575" b="0" dirty="0">
              <a:solidFill>
                <a:srgbClr val="60727B"/>
              </a:solidFill>
              <a:latin typeface="DejaVu Sans"/>
              <a:ea typeface="DejaVu Sans"/>
              <a:cs typeface="DejaVu Sans"/>
            </a:endParaRPr>
          </a:p>
        </p:txBody>
      </p:sp>
      <p:sp>
        <p:nvSpPr>
          <p:cNvPr id="10" name="Rectangle 9">
            <a:extLst>
              <a:ext uri="{FF2B5EF4-FFF2-40B4-BE49-F238E27FC236}">
                <a16:creationId xmlns:a16="http://schemas.microsoft.com/office/drawing/2014/main" id="{D80227F8-1C6F-448E-8A17-2A613CB67D0A}"/>
              </a:ext>
            </a:extLst>
          </p:cNvPr>
          <p:cNvSpPr>
            <a:spLocks noGrp="1"/>
          </p:cNvSpPr>
          <p:nvPr/>
        </p:nvSpPr>
        <p:spPr>
          <a:xfrm>
            <a:off x="5736771" y="3819525"/>
            <a:ext cx="5676900" cy="381000"/>
          </a:xfrm>
          <a:prstGeom prst="rect">
            <a:avLst/>
          </a:prstGeom>
          <a:noFill/>
          <a:ln w="0">
            <a:noFill/>
          </a:ln>
        </p:spPr>
        <p:txBody>
          <a:bodyPr/>
          <a:lstStyle>
            <a:defPPr>
              <a:defRPr sz="1950" b="1">
                <a:solidFill>
                  <a:srgbClr val="20333D"/>
                </a:solidFill>
                <a:latin typeface="DejaVu Sans"/>
                <a:ea typeface="DejaVu Sans"/>
                <a:cs typeface="DejaVu Sans"/>
              </a:defRPr>
            </a:defPPr>
          </a:lstStyle>
          <a:p>
            <a:pPr>
              <a:defRPr sz="1950" b="1">
                <a:solidFill>
                  <a:srgbClr val="20333D"/>
                </a:solidFill>
                <a:latin typeface="DejaVu Sans"/>
                <a:ea typeface="DejaVu Sans"/>
                <a:cs typeface="DejaVu Sans"/>
              </a:defRPr>
            </a:pPr>
            <a:r>
              <a:rPr sz="1950" b="1" dirty="0">
                <a:solidFill>
                  <a:srgbClr val="20333D"/>
                </a:solidFill>
                <a:latin typeface="DejaVu Sans"/>
                <a:ea typeface="DejaVu Sans"/>
                <a:cs typeface="DejaVu Sans"/>
              </a:rPr>
              <a:t>Digital delivery</a:t>
            </a:r>
          </a:p>
        </p:txBody>
      </p:sp>
      <p:sp>
        <p:nvSpPr>
          <p:cNvPr id="11" name="Rectangle 10">
            <a:extLst>
              <a:ext uri="{FF2B5EF4-FFF2-40B4-BE49-F238E27FC236}">
                <a16:creationId xmlns:a16="http://schemas.microsoft.com/office/drawing/2014/main" id="{85E9E1BA-EB75-4475-8794-01A7C193C13E}"/>
              </a:ext>
            </a:extLst>
          </p:cNvPr>
          <p:cNvSpPr>
            <a:spLocks noGrp="1"/>
          </p:cNvSpPr>
          <p:nvPr/>
        </p:nvSpPr>
        <p:spPr>
          <a:xfrm>
            <a:off x="5905499" y="4229100"/>
            <a:ext cx="6286501" cy="619125"/>
          </a:xfrm>
          <a:prstGeom prst="rect">
            <a:avLst/>
          </a:prstGeom>
          <a:noFill/>
          <a:ln w="0">
            <a:noFill/>
          </a:ln>
        </p:spPr>
        <p:txBody>
          <a:bodyPr/>
          <a:lstStyle>
            <a:defPPr>
              <a:defRPr sz="1575" b="0">
                <a:solidFill>
                  <a:srgbClr val="60727B"/>
                </a:solidFill>
                <a:latin typeface="DejaVu Sans"/>
                <a:ea typeface="DejaVu Sans"/>
                <a:cs typeface="DejaVu Sans"/>
              </a:defRPr>
            </a:defPPr>
          </a:lstStyle>
          <a:p>
            <a:pPr>
              <a:defRPr sz="1575" b="0">
                <a:solidFill>
                  <a:srgbClr val="60727B"/>
                </a:solidFill>
                <a:latin typeface="DejaVu Sans"/>
                <a:ea typeface="DejaVu Sans"/>
                <a:cs typeface="DejaVu Sans"/>
              </a:defRPr>
            </a:pPr>
            <a:r>
              <a:rPr sz="1575" b="0" dirty="0">
                <a:solidFill>
                  <a:srgbClr val="60727B"/>
                </a:solidFill>
                <a:latin typeface="DejaVu Sans"/>
                <a:ea typeface="DejaVu Sans"/>
                <a:cs typeface="DejaVu Sans"/>
              </a:rPr>
              <a:t>Adapt BIM</a:t>
            </a:r>
            <a:r>
              <a:rPr lang="en-US" sz="1575" b="0" dirty="0">
                <a:solidFill>
                  <a:srgbClr val="60727B"/>
                </a:solidFill>
                <a:latin typeface="DejaVu Sans"/>
                <a:ea typeface="DejaVu Sans"/>
                <a:cs typeface="DejaVu Sans"/>
              </a:rPr>
              <a:t> for clash analysis</a:t>
            </a:r>
            <a:r>
              <a:rPr lang="en-US" sz="1575" dirty="0">
                <a:solidFill>
                  <a:srgbClr val="60727B"/>
                </a:solidFill>
                <a:latin typeface="DejaVu Sans"/>
                <a:ea typeface="DejaVu Sans"/>
                <a:cs typeface="DejaVu Sans"/>
              </a:rPr>
              <a:t>, Drone surveys</a:t>
            </a:r>
            <a:r>
              <a:rPr sz="1575" b="0" dirty="0">
                <a:solidFill>
                  <a:srgbClr val="60727B"/>
                </a:solidFill>
                <a:latin typeface="DejaVu Sans"/>
                <a:ea typeface="DejaVu Sans"/>
                <a:cs typeface="DejaVu Sans"/>
              </a:rPr>
              <a:t> </a:t>
            </a:r>
            <a:r>
              <a:rPr lang="en-US" sz="1575" b="0" dirty="0">
                <a:solidFill>
                  <a:srgbClr val="60727B"/>
                </a:solidFill>
                <a:latin typeface="DejaVu Sans"/>
                <a:ea typeface="DejaVu Sans"/>
                <a:cs typeface="DejaVu Sans"/>
              </a:rPr>
              <a:t>and </a:t>
            </a:r>
            <a:r>
              <a:rPr lang="en-US" sz="1575" dirty="0">
                <a:solidFill>
                  <a:srgbClr val="60727B"/>
                </a:solidFill>
                <a:latin typeface="DejaVu Sans"/>
                <a:ea typeface="DejaVu Sans"/>
                <a:cs typeface="DejaVu Sans"/>
              </a:rPr>
              <a:t>equipment control to decrease costs and increase productivity. </a:t>
            </a:r>
            <a:r>
              <a:rPr lang="en-US" sz="1575" b="0" dirty="0">
                <a:solidFill>
                  <a:srgbClr val="60727B"/>
                </a:solidFill>
                <a:latin typeface="DejaVu Sans"/>
                <a:ea typeface="DejaVu Sans"/>
                <a:cs typeface="DejaVu Sans"/>
              </a:rPr>
              <a:t> </a:t>
            </a:r>
            <a:endParaRPr sz="1575" b="0" dirty="0">
              <a:solidFill>
                <a:srgbClr val="60727B"/>
              </a:solidFill>
              <a:latin typeface="DejaVu Sans"/>
              <a:ea typeface="DejaVu Sans"/>
              <a:cs typeface="DejaVu Sans"/>
            </a:endParaRPr>
          </a:p>
        </p:txBody>
      </p:sp>
      <p:sp>
        <p:nvSpPr>
          <p:cNvPr id="12" name="Rectangle 11">
            <a:extLst>
              <a:ext uri="{FF2B5EF4-FFF2-40B4-BE49-F238E27FC236}">
                <a16:creationId xmlns:a16="http://schemas.microsoft.com/office/drawing/2014/main" id="{E0520932-AA2A-43E6-8BA2-9E05F99E8AC6}"/>
              </a:ext>
            </a:extLst>
          </p:cNvPr>
          <p:cNvSpPr>
            <a:spLocks noGrp="1"/>
          </p:cNvSpPr>
          <p:nvPr/>
        </p:nvSpPr>
        <p:spPr>
          <a:xfrm>
            <a:off x="5736771" y="4848225"/>
            <a:ext cx="6379029" cy="428625"/>
          </a:xfrm>
          <a:prstGeom prst="rect">
            <a:avLst/>
          </a:prstGeom>
          <a:noFill/>
          <a:ln w="0">
            <a:noFill/>
          </a:ln>
        </p:spPr>
        <p:txBody>
          <a:bodyPr/>
          <a:lstStyle>
            <a:defPPr>
              <a:defRPr sz="1950" b="1">
                <a:solidFill>
                  <a:srgbClr val="20333D"/>
                </a:solidFill>
                <a:latin typeface="DejaVu Sans"/>
                <a:ea typeface="DejaVu Sans"/>
                <a:cs typeface="DejaVu Sans"/>
              </a:defRPr>
            </a:defPPr>
          </a:lstStyle>
          <a:p>
            <a:pPr>
              <a:defRPr sz="1950" b="1">
                <a:solidFill>
                  <a:srgbClr val="20333D"/>
                </a:solidFill>
                <a:latin typeface="DejaVu Sans"/>
                <a:ea typeface="DejaVu Sans"/>
                <a:cs typeface="DejaVu Sans"/>
              </a:defRPr>
            </a:pPr>
            <a:r>
              <a:rPr sz="1950" b="1" dirty="0">
                <a:solidFill>
                  <a:srgbClr val="20333D"/>
                </a:solidFill>
                <a:latin typeface="DejaVu Sans"/>
                <a:ea typeface="DejaVu Sans"/>
                <a:cs typeface="DejaVu Sans"/>
              </a:rPr>
              <a:t>Future opportunities</a:t>
            </a:r>
            <a:r>
              <a:rPr lang="en-US" sz="1950" b="1" dirty="0">
                <a:solidFill>
                  <a:srgbClr val="20333D"/>
                </a:solidFill>
                <a:latin typeface="DejaVu Sans"/>
                <a:ea typeface="DejaVu Sans"/>
                <a:cs typeface="DejaVu Sans"/>
              </a:rPr>
              <a:t> in practical technology</a:t>
            </a:r>
            <a:endParaRPr sz="1950" b="1" dirty="0">
              <a:solidFill>
                <a:srgbClr val="20333D"/>
              </a:solidFill>
              <a:latin typeface="DejaVu Sans"/>
              <a:ea typeface="DejaVu Sans"/>
              <a:cs typeface="DejaVu Sans"/>
            </a:endParaRPr>
          </a:p>
        </p:txBody>
      </p:sp>
      <p:sp>
        <p:nvSpPr>
          <p:cNvPr id="13" name="Rectangle 12">
            <a:extLst>
              <a:ext uri="{FF2B5EF4-FFF2-40B4-BE49-F238E27FC236}">
                <a16:creationId xmlns:a16="http://schemas.microsoft.com/office/drawing/2014/main" id="{332FD157-789B-4628-938B-4DA0E151E237}"/>
              </a:ext>
            </a:extLst>
          </p:cNvPr>
          <p:cNvSpPr>
            <a:spLocks noGrp="1"/>
          </p:cNvSpPr>
          <p:nvPr/>
        </p:nvSpPr>
        <p:spPr>
          <a:xfrm>
            <a:off x="5905500" y="5276850"/>
            <a:ext cx="6286500" cy="830036"/>
          </a:xfrm>
          <a:prstGeom prst="rect">
            <a:avLst/>
          </a:prstGeom>
          <a:noFill/>
          <a:ln w="0">
            <a:noFill/>
          </a:ln>
        </p:spPr>
        <p:txBody>
          <a:bodyPr/>
          <a:lstStyle>
            <a:defPPr>
              <a:defRPr sz="1575" b="0">
                <a:solidFill>
                  <a:srgbClr val="60727B"/>
                </a:solidFill>
                <a:latin typeface="DejaVu Sans"/>
                <a:ea typeface="DejaVu Sans"/>
                <a:cs typeface="DejaVu Sans"/>
              </a:defRPr>
            </a:defPPr>
          </a:lstStyle>
          <a:p>
            <a:pPr>
              <a:defRPr sz="1575" b="0">
                <a:solidFill>
                  <a:srgbClr val="60727B"/>
                </a:solidFill>
                <a:latin typeface="DejaVu Sans"/>
                <a:ea typeface="DejaVu Sans"/>
                <a:cs typeface="DejaVu Sans"/>
              </a:defRPr>
            </a:pPr>
            <a:r>
              <a:rPr sz="1575" b="0" dirty="0">
                <a:solidFill>
                  <a:srgbClr val="60727B"/>
                </a:solidFill>
                <a:latin typeface="DejaVu Sans"/>
                <a:ea typeface="DejaVu Sans"/>
                <a:cs typeface="DejaVu Sans"/>
              </a:rPr>
              <a:t>Explore advanced surveying and new opportunities to strengthen our position</a:t>
            </a:r>
            <a:r>
              <a:rPr lang="en-US" sz="1575" b="0" dirty="0">
                <a:solidFill>
                  <a:srgbClr val="60727B"/>
                </a:solidFill>
                <a:latin typeface="DejaVu Sans"/>
                <a:ea typeface="DejaVu Sans"/>
                <a:cs typeface="DejaVu Sans"/>
              </a:rPr>
              <a:t> and to deliver better projects results</a:t>
            </a:r>
            <a:endParaRPr sz="1575" b="0" dirty="0">
              <a:solidFill>
                <a:srgbClr val="60727B"/>
              </a:solidFill>
              <a:latin typeface="DejaVu Sans"/>
              <a:ea typeface="DejaVu Sans"/>
              <a:cs typeface="DejaVu Sans"/>
            </a:endParaRPr>
          </a:p>
        </p:txBody>
      </p:sp>
    </p:spTree>
    <p:extLst>
      <p:ext uri="{BB962C8B-B14F-4D97-AF65-F5344CB8AC3E}">
        <p14:creationId xmlns:p14="http://schemas.microsoft.com/office/powerpoint/2010/main" val="18671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9FF5365-360C-435A-A833-63ADA34482CD}"/>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440535BF-0745-4BD8-B7EC-B93E26D606D1}"/>
              </a:ext>
            </a:extLst>
          </p:cNvPr>
          <p:cNvSpPr>
            <a:spLocks noGrp="1"/>
          </p:cNvSpPr>
          <p:nvPr/>
        </p:nvSpPr>
        <p:spPr>
          <a:xfrm>
            <a:off x="609600" y="688516"/>
            <a:ext cx="115824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dirty="0">
                <a:solidFill>
                  <a:srgbClr val="20333D"/>
                </a:solidFill>
                <a:latin typeface="DejaVu Sans"/>
                <a:ea typeface="DejaVu Sans"/>
                <a:cs typeface="DejaVu Sans"/>
              </a:rPr>
              <a:t>Innovation in practice</a:t>
            </a:r>
            <a:r>
              <a:rPr lang="en-US" sz="3300" b="1" dirty="0">
                <a:solidFill>
                  <a:srgbClr val="20333D"/>
                </a:solidFill>
                <a:latin typeface="DejaVu Sans"/>
                <a:ea typeface="DejaVu Sans"/>
                <a:cs typeface="DejaVu Sans"/>
              </a:rPr>
              <a:t> – Connecting Sites to Management.</a:t>
            </a:r>
            <a:endParaRPr sz="3300" b="1" dirty="0">
              <a:solidFill>
                <a:srgbClr val="20333D"/>
              </a:solidFill>
              <a:latin typeface="DejaVu Sans"/>
              <a:ea typeface="DejaVu Sans"/>
              <a:cs typeface="DejaVu Sans"/>
            </a:endParaRPr>
          </a:p>
        </p:txBody>
      </p:sp>
      <p:sp>
        <p:nvSpPr>
          <p:cNvPr id="3" name="Rectangle 2">
            <a:extLst>
              <a:ext uri="{FF2B5EF4-FFF2-40B4-BE49-F238E27FC236}">
                <a16:creationId xmlns:a16="http://schemas.microsoft.com/office/drawing/2014/main" id="{F01333D8-2C4A-4B94-8C3E-94EE93E1DC7F}"/>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lang="en-US" sz="1725" b="0" dirty="0">
                <a:solidFill>
                  <a:srgbClr val="60727B"/>
                </a:solidFill>
                <a:latin typeface="DejaVu Sans"/>
                <a:ea typeface="DejaVu Sans"/>
                <a:cs typeface="DejaVu Sans"/>
              </a:rPr>
              <a:t>Implemented </a:t>
            </a:r>
            <a:r>
              <a:rPr sz="1725" b="0" dirty="0">
                <a:solidFill>
                  <a:srgbClr val="60727B"/>
                </a:solidFill>
                <a:latin typeface="DejaVu Sans"/>
                <a:ea typeface="DejaVu Sans"/>
                <a:cs typeface="DejaVu Sans"/>
              </a:rPr>
              <a:t>initiatives t</a:t>
            </a:r>
            <a:r>
              <a:rPr lang="en-US" sz="1725" b="0" dirty="0">
                <a:solidFill>
                  <a:srgbClr val="60727B"/>
                </a:solidFill>
                <a:latin typeface="DejaVu Sans"/>
                <a:ea typeface="DejaVu Sans"/>
                <a:cs typeface="DejaVu Sans"/>
              </a:rPr>
              <a:t>hat has</a:t>
            </a:r>
            <a:r>
              <a:rPr sz="1725" b="0" dirty="0">
                <a:solidFill>
                  <a:srgbClr val="60727B"/>
                </a:solidFill>
                <a:latin typeface="DejaVu Sans"/>
                <a:ea typeface="DejaVu Sans"/>
                <a:cs typeface="DejaVu Sans"/>
              </a:rPr>
              <a:t> improve</a:t>
            </a:r>
            <a:r>
              <a:rPr lang="en-US" sz="1725" b="0" dirty="0">
                <a:solidFill>
                  <a:srgbClr val="60727B"/>
                </a:solidFill>
                <a:latin typeface="DejaVu Sans"/>
                <a:ea typeface="DejaVu Sans"/>
                <a:cs typeface="DejaVu Sans"/>
              </a:rPr>
              <a:t>d</a:t>
            </a:r>
            <a:r>
              <a:rPr sz="1725" b="0" dirty="0">
                <a:solidFill>
                  <a:srgbClr val="60727B"/>
                </a:solidFill>
                <a:latin typeface="DejaVu Sans"/>
                <a:ea typeface="DejaVu Sans"/>
                <a:cs typeface="DejaVu Sans"/>
              </a:rPr>
              <a:t> accuracy, coordination and site productivity</a:t>
            </a:r>
            <a:r>
              <a:rPr lang="en-US" sz="1725" b="0" dirty="0">
                <a:solidFill>
                  <a:srgbClr val="60727B"/>
                </a:solidFill>
                <a:latin typeface="DejaVu Sans"/>
                <a:ea typeface="DejaVu Sans"/>
                <a:cs typeface="DejaVu Sans"/>
              </a:rPr>
              <a:t>.</a:t>
            </a:r>
            <a:endParaRPr sz="1725" b="0" dirty="0">
              <a:solidFill>
                <a:srgbClr val="60727B"/>
              </a:solidFill>
              <a:latin typeface="DejaVu Sans"/>
              <a:ea typeface="DejaVu Sans"/>
              <a:cs typeface="DejaVu Sans"/>
            </a:endParaRPr>
          </a:p>
        </p:txBody>
      </p:sp>
      <p:sp>
        <p:nvSpPr>
          <p:cNvPr id="4" name="Rectangle 3">
            <a:extLst>
              <a:ext uri="{FF2B5EF4-FFF2-40B4-BE49-F238E27FC236}">
                <a16:creationId xmlns:a16="http://schemas.microsoft.com/office/drawing/2014/main" id="{8083B61C-3C1A-477E-96C2-97766C94B66B}"/>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7E8F8E2D-3DD9-4AF9-B969-FF46E3C4374B}"/>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03</a:t>
            </a:r>
          </a:p>
        </p:txBody>
      </p:sp>
      <p:sp>
        <p:nvSpPr>
          <p:cNvPr id="6" name="Rectangle 5">
            <a:extLst>
              <a:ext uri="{FF2B5EF4-FFF2-40B4-BE49-F238E27FC236}">
                <a16:creationId xmlns:a16="http://schemas.microsoft.com/office/drawing/2014/main" id="{B7B84BC9-0100-467B-828F-A2849B48D349}"/>
              </a:ext>
            </a:extLst>
          </p:cNvPr>
          <p:cNvSpPr>
            <a:spLocks noGrp="1"/>
          </p:cNvSpPr>
          <p:nvPr/>
        </p:nvSpPr>
        <p:spPr>
          <a:xfrm>
            <a:off x="609600" y="2762250"/>
            <a:ext cx="609600" cy="400050"/>
          </a:xfrm>
          <a:prstGeom prst="rect">
            <a:avLst/>
          </a:prstGeom>
          <a:noFill/>
          <a:ln w="0">
            <a:noFill/>
          </a:ln>
        </p:spPr>
        <p:txBody>
          <a:bodyPr/>
          <a:lstStyle>
            <a:defPPr>
              <a:defRPr sz="2100" b="1">
                <a:solidFill>
                  <a:srgbClr val="007F83"/>
                </a:solidFill>
                <a:latin typeface="DejaVu Sans"/>
                <a:ea typeface="DejaVu Sans"/>
                <a:cs typeface="DejaVu Sans"/>
              </a:defRPr>
            </a:defPPr>
          </a:lstStyle>
          <a:p>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01</a:t>
            </a:r>
          </a:p>
        </p:txBody>
      </p:sp>
      <p:sp>
        <p:nvSpPr>
          <p:cNvPr id="7" name="Rectangle 6">
            <a:extLst>
              <a:ext uri="{FF2B5EF4-FFF2-40B4-BE49-F238E27FC236}">
                <a16:creationId xmlns:a16="http://schemas.microsoft.com/office/drawing/2014/main" id="{7C188D1E-3C7D-43C8-A207-2A3C76817184}"/>
              </a:ext>
            </a:extLst>
          </p:cNvPr>
          <p:cNvSpPr>
            <a:spLocks noGrp="1"/>
          </p:cNvSpPr>
          <p:nvPr/>
        </p:nvSpPr>
        <p:spPr>
          <a:xfrm>
            <a:off x="1409700" y="2762250"/>
            <a:ext cx="3000375" cy="400050"/>
          </a:xfrm>
          <a:prstGeom prst="rect">
            <a:avLst/>
          </a:prstGeom>
          <a:noFill/>
          <a:ln w="0">
            <a:noFill/>
          </a:ln>
        </p:spPr>
        <p:txBody>
          <a:bodyPr/>
          <a:lstStyle>
            <a:defPPr>
              <a:defRPr sz="1875" b="1">
                <a:solidFill>
                  <a:srgbClr val="20333D"/>
                </a:solidFill>
                <a:latin typeface="DejaVu Sans"/>
                <a:ea typeface="DejaVu Sans"/>
                <a:cs typeface="DejaVu Sans"/>
              </a:defRPr>
            </a:defPPr>
          </a:lstStyle>
          <a:p>
            <a:pPr>
              <a:defRPr sz="1875" b="1">
                <a:solidFill>
                  <a:srgbClr val="20333D"/>
                </a:solidFill>
                <a:latin typeface="DejaVu Sans"/>
                <a:ea typeface="DejaVu Sans"/>
                <a:cs typeface="DejaVu Sans"/>
              </a:defRPr>
            </a:pPr>
            <a:r>
              <a:rPr sz="1875" b="1">
                <a:solidFill>
                  <a:srgbClr val="20333D"/>
                </a:solidFill>
                <a:latin typeface="DejaVu Sans"/>
                <a:ea typeface="DejaVu Sans"/>
                <a:cs typeface="DejaVu Sans"/>
              </a:rPr>
              <a:t>Precast solutions</a:t>
            </a:r>
          </a:p>
        </p:txBody>
      </p:sp>
      <p:sp>
        <p:nvSpPr>
          <p:cNvPr id="8" name="Rectangle 7">
            <a:extLst>
              <a:ext uri="{FF2B5EF4-FFF2-40B4-BE49-F238E27FC236}">
                <a16:creationId xmlns:a16="http://schemas.microsoft.com/office/drawing/2014/main" id="{469091D8-DB14-4B10-A0C2-D9D91661AF0C}"/>
              </a:ext>
            </a:extLst>
          </p:cNvPr>
          <p:cNvSpPr>
            <a:spLocks noGrp="1"/>
          </p:cNvSpPr>
          <p:nvPr/>
        </p:nvSpPr>
        <p:spPr>
          <a:xfrm>
            <a:off x="4857750" y="2579914"/>
            <a:ext cx="6724650" cy="590550"/>
          </a:xfrm>
          <a:prstGeom prst="rect">
            <a:avLst/>
          </a:prstGeom>
          <a:noFill/>
          <a:ln w="0">
            <a:noFill/>
          </a:ln>
        </p:spPr>
        <p:txBody>
          <a:bodyPr/>
          <a:lstStyle>
            <a:defPPr>
              <a:defRPr sz="1650" b="0">
                <a:solidFill>
                  <a:srgbClr val="60727B"/>
                </a:solidFill>
                <a:latin typeface="DejaVu Sans"/>
                <a:ea typeface="DejaVu Sans"/>
                <a:cs typeface="DejaVu Sans"/>
              </a:defRPr>
            </a:defPPr>
          </a:lstStyle>
          <a:p>
            <a:pPr>
              <a:defRPr sz="1650" b="0">
                <a:solidFill>
                  <a:srgbClr val="60727B"/>
                </a:solidFill>
                <a:latin typeface="DejaVu Sans"/>
                <a:ea typeface="DejaVu Sans"/>
                <a:cs typeface="DejaVu Sans"/>
              </a:defRPr>
            </a:pPr>
            <a:r>
              <a:rPr lang="en-US" sz="1650" b="0" dirty="0">
                <a:solidFill>
                  <a:srgbClr val="60727B"/>
                </a:solidFill>
                <a:latin typeface="DejaVu Sans"/>
                <a:ea typeface="DejaVu Sans"/>
                <a:cs typeface="DejaVu Sans"/>
              </a:rPr>
              <a:t>I</a:t>
            </a:r>
            <a:r>
              <a:rPr sz="1650" b="0" dirty="0">
                <a:solidFill>
                  <a:srgbClr val="60727B"/>
                </a:solidFill>
                <a:latin typeface="DejaVu Sans"/>
                <a:ea typeface="DejaVu Sans"/>
                <a:cs typeface="DejaVu Sans"/>
              </a:rPr>
              <a:t>ntroduc</a:t>
            </a:r>
            <a:r>
              <a:rPr lang="en-US" sz="1650" b="0" dirty="0">
                <a:solidFill>
                  <a:srgbClr val="60727B"/>
                </a:solidFill>
                <a:latin typeface="DejaVu Sans"/>
                <a:ea typeface="DejaVu Sans"/>
                <a:cs typeface="DejaVu Sans"/>
              </a:rPr>
              <a:t>ing new out of the box </a:t>
            </a:r>
            <a:r>
              <a:rPr sz="1650" b="0" dirty="0">
                <a:solidFill>
                  <a:srgbClr val="60727B"/>
                </a:solidFill>
                <a:latin typeface="DejaVu Sans"/>
                <a:ea typeface="DejaVu Sans"/>
                <a:cs typeface="DejaVu Sans"/>
              </a:rPr>
              <a:t>suitable precast solutions </a:t>
            </a:r>
            <a:r>
              <a:rPr lang="en-US" sz="1650" b="0" dirty="0">
                <a:solidFill>
                  <a:srgbClr val="60727B"/>
                </a:solidFill>
                <a:latin typeface="DejaVu Sans"/>
                <a:ea typeface="DejaVu Sans"/>
                <a:cs typeface="DejaVu Sans"/>
              </a:rPr>
              <a:t>in manholes and poles foundations </a:t>
            </a:r>
            <a:r>
              <a:rPr sz="1650" b="0" dirty="0">
                <a:solidFill>
                  <a:srgbClr val="60727B"/>
                </a:solidFill>
                <a:latin typeface="DejaVu Sans"/>
                <a:ea typeface="DejaVu Sans"/>
                <a:cs typeface="DejaVu Sans"/>
              </a:rPr>
              <a:t>to support efficient delivery</a:t>
            </a:r>
            <a:r>
              <a:rPr lang="en-US" sz="1650" b="0" dirty="0">
                <a:solidFill>
                  <a:srgbClr val="60727B"/>
                </a:solidFill>
                <a:latin typeface="DejaVu Sans"/>
                <a:ea typeface="DejaVu Sans"/>
                <a:cs typeface="DejaVu Sans"/>
              </a:rPr>
              <a:t> and cost reduction</a:t>
            </a:r>
            <a:r>
              <a:rPr sz="1650" b="0" dirty="0">
                <a:solidFill>
                  <a:srgbClr val="60727B"/>
                </a:solidFill>
                <a:latin typeface="DejaVu Sans"/>
                <a:ea typeface="DejaVu Sans"/>
                <a:cs typeface="DejaVu Sans"/>
              </a:rPr>
              <a:t>.</a:t>
            </a:r>
          </a:p>
        </p:txBody>
      </p:sp>
      <p:sp>
        <p:nvSpPr>
          <p:cNvPr id="9" name="Rectangle 8">
            <a:extLst>
              <a:ext uri="{FF2B5EF4-FFF2-40B4-BE49-F238E27FC236}">
                <a16:creationId xmlns:a16="http://schemas.microsoft.com/office/drawing/2014/main" id="{08DDE3F1-3A4E-4770-9F98-DDB813D04757}"/>
              </a:ext>
            </a:extLst>
          </p:cNvPr>
          <p:cNvSpPr>
            <a:spLocks noGrp="1"/>
          </p:cNvSpPr>
          <p:nvPr/>
        </p:nvSpPr>
        <p:spPr>
          <a:xfrm>
            <a:off x="609600" y="3495675"/>
            <a:ext cx="609600" cy="400050"/>
          </a:xfrm>
          <a:prstGeom prst="rect">
            <a:avLst/>
          </a:prstGeom>
          <a:noFill/>
          <a:ln w="0">
            <a:noFill/>
          </a:ln>
        </p:spPr>
        <p:txBody>
          <a:bodyPr/>
          <a:lstStyle>
            <a:defPPr>
              <a:defRPr sz="2100" b="1">
                <a:solidFill>
                  <a:srgbClr val="007F83"/>
                </a:solidFill>
                <a:latin typeface="DejaVu Sans"/>
                <a:ea typeface="DejaVu Sans"/>
                <a:cs typeface="DejaVu Sans"/>
              </a:defRPr>
            </a:defPPr>
          </a:lstStyle>
          <a:p>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02</a:t>
            </a:r>
          </a:p>
        </p:txBody>
      </p:sp>
      <p:sp>
        <p:nvSpPr>
          <p:cNvPr id="10" name="Rectangle 9">
            <a:extLst>
              <a:ext uri="{FF2B5EF4-FFF2-40B4-BE49-F238E27FC236}">
                <a16:creationId xmlns:a16="http://schemas.microsoft.com/office/drawing/2014/main" id="{A18CD575-1194-46EA-9EC7-C12FE4CDD328}"/>
              </a:ext>
            </a:extLst>
          </p:cNvPr>
          <p:cNvSpPr>
            <a:spLocks noGrp="1"/>
          </p:cNvSpPr>
          <p:nvPr/>
        </p:nvSpPr>
        <p:spPr>
          <a:xfrm>
            <a:off x="1409700" y="3495675"/>
            <a:ext cx="3000375" cy="400050"/>
          </a:xfrm>
          <a:prstGeom prst="rect">
            <a:avLst/>
          </a:prstGeom>
          <a:noFill/>
          <a:ln w="0">
            <a:noFill/>
          </a:ln>
        </p:spPr>
        <p:txBody>
          <a:bodyPr/>
          <a:lstStyle>
            <a:defPPr>
              <a:defRPr sz="1875" b="1">
                <a:solidFill>
                  <a:srgbClr val="20333D"/>
                </a:solidFill>
                <a:latin typeface="DejaVu Sans"/>
                <a:ea typeface="DejaVu Sans"/>
                <a:cs typeface="DejaVu Sans"/>
              </a:defRPr>
            </a:defPPr>
          </a:lstStyle>
          <a:p>
            <a:pPr>
              <a:defRPr sz="1875" b="1">
                <a:solidFill>
                  <a:srgbClr val="20333D"/>
                </a:solidFill>
                <a:latin typeface="DejaVu Sans"/>
                <a:ea typeface="DejaVu Sans"/>
                <a:cs typeface="DejaVu Sans"/>
              </a:defRPr>
            </a:pPr>
            <a:r>
              <a:rPr sz="1875" b="1">
                <a:solidFill>
                  <a:srgbClr val="20333D"/>
                </a:solidFill>
                <a:latin typeface="DejaVu Sans"/>
                <a:ea typeface="DejaVu Sans"/>
                <a:cs typeface="DejaVu Sans"/>
              </a:rPr>
              <a:t>Dozer leveling</a:t>
            </a:r>
          </a:p>
        </p:txBody>
      </p:sp>
      <p:sp>
        <p:nvSpPr>
          <p:cNvPr id="11" name="Rectangle 10">
            <a:extLst>
              <a:ext uri="{FF2B5EF4-FFF2-40B4-BE49-F238E27FC236}">
                <a16:creationId xmlns:a16="http://schemas.microsoft.com/office/drawing/2014/main" id="{D78D4219-B295-47A1-999F-6D6E203CA946}"/>
              </a:ext>
            </a:extLst>
          </p:cNvPr>
          <p:cNvSpPr>
            <a:spLocks noGrp="1"/>
          </p:cNvSpPr>
          <p:nvPr/>
        </p:nvSpPr>
        <p:spPr>
          <a:xfrm>
            <a:off x="4857750" y="3495675"/>
            <a:ext cx="6724650" cy="590550"/>
          </a:xfrm>
          <a:prstGeom prst="rect">
            <a:avLst/>
          </a:prstGeom>
          <a:noFill/>
          <a:ln w="0">
            <a:noFill/>
          </a:ln>
        </p:spPr>
        <p:txBody>
          <a:bodyPr/>
          <a:lstStyle>
            <a:defPPr>
              <a:defRPr sz="1650" b="0">
                <a:solidFill>
                  <a:srgbClr val="60727B"/>
                </a:solidFill>
                <a:latin typeface="DejaVu Sans"/>
                <a:ea typeface="DejaVu Sans"/>
                <a:cs typeface="DejaVu Sans"/>
              </a:defRPr>
            </a:defPPr>
          </a:lstStyle>
          <a:p>
            <a:pPr>
              <a:defRPr sz="1650" b="0">
                <a:solidFill>
                  <a:srgbClr val="60727B"/>
                </a:solidFill>
                <a:latin typeface="DejaVu Sans"/>
                <a:ea typeface="DejaVu Sans"/>
                <a:cs typeface="DejaVu Sans"/>
              </a:defRPr>
            </a:pPr>
            <a:r>
              <a:rPr lang="en-US" sz="1650" b="0" dirty="0">
                <a:solidFill>
                  <a:srgbClr val="60727B"/>
                </a:solidFill>
                <a:latin typeface="DejaVu Sans"/>
                <a:ea typeface="DejaVu Sans"/>
                <a:cs typeface="DejaVu Sans"/>
              </a:rPr>
              <a:t>All our dozers have automated leveling control to improve productivity and reduce costs.</a:t>
            </a:r>
            <a:endParaRPr sz="1650" b="0" dirty="0">
              <a:solidFill>
                <a:srgbClr val="60727B"/>
              </a:solidFill>
              <a:latin typeface="DejaVu Sans"/>
              <a:ea typeface="DejaVu Sans"/>
              <a:cs typeface="DejaVu Sans"/>
            </a:endParaRPr>
          </a:p>
        </p:txBody>
      </p:sp>
      <p:sp>
        <p:nvSpPr>
          <p:cNvPr id="12" name="Rectangle 11">
            <a:extLst>
              <a:ext uri="{FF2B5EF4-FFF2-40B4-BE49-F238E27FC236}">
                <a16:creationId xmlns:a16="http://schemas.microsoft.com/office/drawing/2014/main" id="{ADA7044E-C203-48F6-94E5-C9FA72542FB5}"/>
              </a:ext>
            </a:extLst>
          </p:cNvPr>
          <p:cNvSpPr>
            <a:spLocks noGrp="1"/>
          </p:cNvSpPr>
          <p:nvPr/>
        </p:nvSpPr>
        <p:spPr>
          <a:xfrm>
            <a:off x="609600" y="4229100"/>
            <a:ext cx="609600" cy="400050"/>
          </a:xfrm>
          <a:prstGeom prst="rect">
            <a:avLst/>
          </a:prstGeom>
          <a:noFill/>
          <a:ln w="0">
            <a:noFill/>
          </a:ln>
        </p:spPr>
        <p:txBody>
          <a:bodyPr/>
          <a:lstStyle>
            <a:defPPr>
              <a:defRPr sz="2100" b="1">
                <a:solidFill>
                  <a:srgbClr val="007F83"/>
                </a:solidFill>
                <a:latin typeface="DejaVu Sans"/>
                <a:ea typeface="DejaVu Sans"/>
                <a:cs typeface="DejaVu Sans"/>
              </a:defRPr>
            </a:defPPr>
          </a:lstStyle>
          <a:p>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03</a:t>
            </a:r>
          </a:p>
        </p:txBody>
      </p:sp>
      <p:sp>
        <p:nvSpPr>
          <p:cNvPr id="13" name="Rectangle 12">
            <a:extLst>
              <a:ext uri="{FF2B5EF4-FFF2-40B4-BE49-F238E27FC236}">
                <a16:creationId xmlns:a16="http://schemas.microsoft.com/office/drawing/2014/main" id="{B0E1D029-F437-4D6D-917B-0A300A16F07B}"/>
              </a:ext>
            </a:extLst>
          </p:cNvPr>
          <p:cNvSpPr>
            <a:spLocks noGrp="1"/>
          </p:cNvSpPr>
          <p:nvPr/>
        </p:nvSpPr>
        <p:spPr>
          <a:xfrm>
            <a:off x="1409700" y="4229100"/>
            <a:ext cx="3000375" cy="400050"/>
          </a:xfrm>
          <a:prstGeom prst="rect">
            <a:avLst/>
          </a:prstGeom>
          <a:noFill/>
          <a:ln w="0">
            <a:noFill/>
          </a:ln>
        </p:spPr>
        <p:txBody>
          <a:bodyPr/>
          <a:lstStyle>
            <a:defPPr>
              <a:defRPr sz="1875" b="1">
                <a:solidFill>
                  <a:srgbClr val="20333D"/>
                </a:solidFill>
                <a:latin typeface="DejaVu Sans"/>
                <a:ea typeface="DejaVu Sans"/>
                <a:cs typeface="DejaVu Sans"/>
              </a:defRPr>
            </a:defPPr>
          </a:lstStyle>
          <a:p>
            <a:pPr>
              <a:defRPr sz="1875" b="1">
                <a:solidFill>
                  <a:srgbClr val="20333D"/>
                </a:solidFill>
                <a:latin typeface="DejaVu Sans"/>
                <a:ea typeface="DejaVu Sans"/>
                <a:cs typeface="DejaVu Sans"/>
              </a:defRPr>
            </a:pPr>
            <a:r>
              <a:rPr sz="1875" b="1">
                <a:solidFill>
                  <a:srgbClr val="20333D"/>
                </a:solidFill>
                <a:latin typeface="DejaVu Sans"/>
                <a:ea typeface="DejaVu Sans"/>
                <a:cs typeface="DejaVu Sans"/>
              </a:rPr>
              <a:t>BIM adaptation</a:t>
            </a:r>
          </a:p>
        </p:txBody>
      </p:sp>
      <p:sp>
        <p:nvSpPr>
          <p:cNvPr id="14" name="Rectangle 13">
            <a:extLst>
              <a:ext uri="{FF2B5EF4-FFF2-40B4-BE49-F238E27FC236}">
                <a16:creationId xmlns:a16="http://schemas.microsoft.com/office/drawing/2014/main" id="{B04D3EB8-6695-431D-8C28-2DAB7B6B4EF0}"/>
              </a:ext>
            </a:extLst>
          </p:cNvPr>
          <p:cNvSpPr>
            <a:spLocks noGrp="1"/>
          </p:cNvSpPr>
          <p:nvPr/>
        </p:nvSpPr>
        <p:spPr>
          <a:xfrm>
            <a:off x="4857750" y="4076700"/>
            <a:ext cx="6724650" cy="590550"/>
          </a:xfrm>
          <a:prstGeom prst="rect">
            <a:avLst/>
          </a:prstGeom>
          <a:noFill/>
          <a:ln w="0">
            <a:noFill/>
          </a:ln>
        </p:spPr>
        <p:txBody>
          <a:bodyPr/>
          <a:lstStyle>
            <a:defPPr>
              <a:defRPr sz="1650" b="0">
                <a:solidFill>
                  <a:srgbClr val="60727B"/>
                </a:solidFill>
                <a:latin typeface="DejaVu Sans"/>
                <a:ea typeface="DejaVu Sans"/>
                <a:cs typeface="DejaVu Sans"/>
              </a:defRPr>
            </a:defPPr>
          </a:lstStyle>
          <a:p>
            <a:pPr>
              <a:defRPr sz="1650" b="0">
                <a:solidFill>
                  <a:srgbClr val="60727B"/>
                </a:solidFill>
                <a:latin typeface="DejaVu Sans"/>
                <a:ea typeface="DejaVu Sans"/>
                <a:cs typeface="DejaVu Sans"/>
              </a:defRPr>
            </a:pPr>
            <a:r>
              <a:rPr lang="en-US" sz="1650" b="0" dirty="0">
                <a:solidFill>
                  <a:srgbClr val="60727B"/>
                </a:solidFill>
                <a:latin typeface="DejaVu Sans"/>
                <a:ea typeface="DejaVu Sans"/>
                <a:cs typeface="DejaVu Sans"/>
              </a:rPr>
              <a:t>Pioneering in </a:t>
            </a:r>
            <a:r>
              <a:rPr sz="1650" b="0" dirty="0">
                <a:solidFill>
                  <a:srgbClr val="60727B"/>
                </a:solidFill>
                <a:latin typeface="DejaVu Sans"/>
                <a:ea typeface="DejaVu Sans"/>
                <a:cs typeface="DejaVu Sans"/>
              </a:rPr>
              <a:t>Building Information Modeling </a:t>
            </a:r>
            <a:r>
              <a:rPr lang="en-US" sz="1650" b="0" dirty="0">
                <a:solidFill>
                  <a:srgbClr val="60727B"/>
                </a:solidFill>
                <a:latin typeface="DejaVu Sans"/>
                <a:ea typeface="DejaVu Sans"/>
                <a:cs typeface="DejaVu Sans"/>
              </a:rPr>
              <a:t>in infra works </a:t>
            </a:r>
            <a:r>
              <a:rPr sz="1650" b="0" dirty="0">
                <a:solidFill>
                  <a:srgbClr val="60727B"/>
                </a:solidFill>
                <a:latin typeface="DejaVu Sans"/>
                <a:ea typeface="DejaVu Sans"/>
                <a:cs typeface="DejaVu Sans"/>
              </a:rPr>
              <a:t>for coordination, </a:t>
            </a:r>
            <a:r>
              <a:rPr lang="en-US" sz="1650" b="0" dirty="0">
                <a:solidFill>
                  <a:srgbClr val="60727B"/>
                </a:solidFill>
                <a:latin typeface="DejaVu Sans"/>
                <a:ea typeface="DejaVu Sans"/>
                <a:cs typeface="DejaVu Sans"/>
              </a:rPr>
              <a:t>reduce clashes prior to execution, </a:t>
            </a:r>
            <a:r>
              <a:rPr sz="1650" b="0" dirty="0">
                <a:solidFill>
                  <a:srgbClr val="60727B"/>
                </a:solidFill>
                <a:latin typeface="DejaVu Sans"/>
                <a:ea typeface="DejaVu Sans"/>
                <a:cs typeface="DejaVu Sans"/>
              </a:rPr>
              <a:t>planning and</a:t>
            </a:r>
            <a:r>
              <a:rPr lang="en-US" sz="1650" b="0" dirty="0">
                <a:solidFill>
                  <a:srgbClr val="60727B"/>
                </a:solidFill>
                <a:latin typeface="DejaVu Sans"/>
                <a:ea typeface="DejaVu Sans"/>
                <a:cs typeface="DejaVu Sans"/>
              </a:rPr>
              <a:t> better </a:t>
            </a:r>
            <a:r>
              <a:rPr sz="1650" b="0" dirty="0">
                <a:solidFill>
                  <a:srgbClr val="60727B"/>
                </a:solidFill>
                <a:latin typeface="DejaVu Sans"/>
                <a:ea typeface="DejaVu Sans"/>
                <a:cs typeface="DejaVu Sans"/>
              </a:rPr>
              <a:t>control.</a:t>
            </a:r>
          </a:p>
        </p:txBody>
      </p:sp>
      <p:sp>
        <p:nvSpPr>
          <p:cNvPr id="15" name="Rectangle 14">
            <a:extLst>
              <a:ext uri="{FF2B5EF4-FFF2-40B4-BE49-F238E27FC236}">
                <a16:creationId xmlns:a16="http://schemas.microsoft.com/office/drawing/2014/main" id="{FE6636BB-76D3-406F-A709-675FB689FB44}"/>
              </a:ext>
            </a:extLst>
          </p:cNvPr>
          <p:cNvSpPr>
            <a:spLocks noGrp="1"/>
          </p:cNvSpPr>
          <p:nvPr/>
        </p:nvSpPr>
        <p:spPr>
          <a:xfrm>
            <a:off x="609600" y="4962525"/>
            <a:ext cx="609600" cy="400050"/>
          </a:xfrm>
          <a:prstGeom prst="rect">
            <a:avLst/>
          </a:prstGeom>
          <a:noFill/>
          <a:ln w="0">
            <a:noFill/>
          </a:ln>
        </p:spPr>
        <p:txBody>
          <a:bodyPr/>
          <a:lstStyle>
            <a:defPPr>
              <a:defRPr sz="2100" b="1">
                <a:solidFill>
                  <a:srgbClr val="007F83"/>
                </a:solidFill>
                <a:latin typeface="DejaVu Sans"/>
                <a:ea typeface="DejaVu Sans"/>
                <a:cs typeface="DejaVu Sans"/>
              </a:defRPr>
            </a:defPPr>
          </a:lstStyle>
          <a:p>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04</a:t>
            </a:r>
          </a:p>
        </p:txBody>
      </p:sp>
      <p:sp>
        <p:nvSpPr>
          <p:cNvPr id="16" name="Rectangle 15">
            <a:extLst>
              <a:ext uri="{FF2B5EF4-FFF2-40B4-BE49-F238E27FC236}">
                <a16:creationId xmlns:a16="http://schemas.microsoft.com/office/drawing/2014/main" id="{C9D2D63B-FC7F-452B-A018-BC9D997C1EB4}"/>
              </a:ext>
            </a:extLst>
          </p:cNvPr>
          <p:cNvSpPr>
            <a:spLocks noGrp="1"/>
          </p:cNvSpPr>
          <p:nvPr/>
        </p:nvSpPr>
        <p:spPr>
          <a:xfrm>
            <a:off x="1409700" y="4962525"/>
            <a:ext cx="3000375" cy="400050"/>
          </a:xfrm>
          <a:prstGeom prst="rect">
            <a:avLst/>
          </a:prstGeom>
          <a:noFill/>
          <a:ln w="0">
            <a:noFill/>
          </a:ln>
        </p:spPr>
        <p:txBody>
          <a:bodyPr/>
          <a:lstStyle>
            <a:defPPr>
              <a:defRPr sz="1875" b="1">
                <a:solidFill>
                  <a:srgbClr val="20333D"/>
                </a:solidFill>
                <a:latin typeface="DejaVu Sans"/>
                <a:ea typeface="DejaVu Sans"/>
                <a:cs typeface="DejaVu Sans"/>
              </a:defRPr>
            </a:defPPr>
          </a:lstStyle>
          <a:p>
            <a:pPr>
              <a:defRPr sz="1875" b="1">
                <a:solidFill>
                  <a:srgbClr val="20333D"/>
                </a:solidFill>
                <a:latin typeface="DejaVu Sans"/>
                <a:ea typeface="DejaVu Sans"/>
                <a:cs typeface="DejaVu Sans"/>
              </a:defRPr>
            </a:pPr>
            <a:r>
              <a:rPr sz="1875" b="1">
                <a:solidFill>
                  <a:srgbClr val="20333D"/>
                </a:solidFill>
                <a:latin typeface="DejaVu Sans"/>
                <a:ea typeface="DejaVu Sans"/>
                <a:cs typeface="DejaVu Sans"/>
              </a:rPr>
              <a:t>Drone surveys</a:t>
            </a:r>
          </a:p>
        </p:txBody>
      </p:sp>
      <p:sp>
        <p:nvSpPr>
          <p:cNvPr id="17" name="Rectangle 16">
            <a:extLst>
              <a:ext uri="{FF2B5EF4-FFF2-40B4-BE49-F238E27FC236}">
                <a16:creationId xmlns:a16="http://schemas.microsoft.com/office/drawing/2014/main" id="{255D3706-A2AD-4005-A433-2BBA5BBE938E}"/>
              </a:ext>
            </a:extLst>
          </p:cNvPr>
          <p:cNvSpPr>
            <a:spLocks noGrp="1"/>
          </p:cNvSpPr>
          <p:nvPr/>
        </p:nvSpPr>
        <p:spPr>
          <a:xfrm>
            <a:off x="4857750" y="4962525"/>
            <a:ext cx="6724650" cy="590550"/>
          </a:xfrm>
          <a:prstGeom prst="rect">
            <a:avLst/>
          </a:prstGeom>
          <a:noFill/>
          <a:ln w="0">
            <a:noFill/>
          </a:ln>
        </p:spPr>
        <p:txBody>
          <a:bodyPr/>
          <a:lstStyle>
            <a:defPPr>
              <a:defRPr sz="1650" b="0">
                <a:solidFill>
                  <a:srgbClr val="60727B"/>
                </a:solidFill>
                <a:latin typeface="DejaVu Sans"/>
                <a:ea typeface="DejaVu Sans"/>
                <a:cs typeface="DejaVu Sans"/>
              </a:defRPr>
            </a:defPPr>
          </a:lstStyle>
          <a:p>
            <a:pPr>
              <a:defRPr sz="1650" b="0">
                <a:solidFill>
                  <a:srgbClr val="60727B"/>
                </a:solidFill>
                <a:latin typeface="DejaVu Sans"/>
                <a:ea typeface="DejaVu Sans"/>
                <a:cs typeface="DejaVu Sans"/>
              </a:defRPr>
            </a:pPr>
            <a:r>
              <a:rPr sz="1650" b="0">
                <a:solidFill>
                  <a:srgbClr val="60727B"/>
                </a:solidFill>
                <a:latin typeface="DejaVu Sans"/>
                <a:ea typeface="DejaVu Sans"/>
                <a:cs typeface="DejaVu Sans"/>
              </a:rPr>
              <a:t>Explore drone surveying to improve site data collection and visibility.</a:t>
            </a:r>
          </a:p>
        </p:txBody>
      </p:sp>
      <p:sp>
        <p:nvSpPr>
          <p:cNvPr id="18" name="Rectangle 17">
            <a:extLst>
              <a:ext uri="{FF2B5EF4-FFF2-40B4-BE49-F238E27FC236}">
                <a16:creationId xmlns:a16="http://schemas.microsoft.com/office/drawing/2014/main" id="{4433B885-B1BF-42B0-A178-3EF87B1AD22B}"/>
              </a:ext>
            </a:extLst>
          </p:cNvPr>
          <p:cNvSpPr>
            <a:spLocks noGrp="1"/>
          </p:cNvSpPr>
          <p:nvPr/>
        </p:nvSpPr>
        <p:spPr>
          <a:xfrm>
            <a:off x="609600" y="5848350"/>
            <a:ext cx="10972800" cy="400050"/>
          </a:xfrm>
          <a:prstGeom prst="rect">
            <a:avLst/>
          </a:prstGeom>
          <a:noFill/>
          <a:ln w="0">
            <a:noFill/>
          </a:ln>
        </p:spPr>
        <p:txBody>
          <a:bodyPr/>
          <a:lstStyle>
            <a:defPPr>
              <a:defRPr sz="1800" b="1">
                <a:solidFill>
                  <a:srgbClr val="007F83"/>
                </a:solidFill>
                <a:latin typeface="DejaVu Sans"/>
                <a:ea typeface="DejaVu Sans"/>
                <a:cs typeface="DejaVu Sans"/>
              </a:defRPr>
            </a:defPPr>
          </a:lstStyle>
          <a:p>
            <a:pPr>
              <a:defRPr sz="1800" b="1">
                <a:solidFill>
                  <a:srgbClr val="007F83"/>
                </a:solidFill>
                <a:latin typeface="DejaVu Sans"/>
                <a:ea typeface="DejaVu Sans"/>
                <a:cs typeface="DejaVu Sans"/>
              </a:defRPr>
            </a:pPr>
            <a:r>
              <a:rPr sz="1800" b="1">
                <a:solidFill>
                  <a:srgbClr val="007F83"/>
                </a:solidFill>
                <a:latin typeface="DejaVu Sans"/>
                <a:ea typeface="DejaVu Sans"/>
                <a:cs typeface="DejaVu Sans"/>
              </a:rPr>
              <a:t>Intended outcome: lower operating costs, fewer delays and higher productivity</a:t>
            </a:r>
          </a:p>
        </p:txBody>
      </p:sp>
    </p:spTree>
    <p:extLst>
      <p:ext uri="{BB962C8B-B14F-4D97-AF65-F5344CB8AC3E}">
        <p14:creationId xmlns:p14="http://schemas.microsoft.com/office/powerpoint/2010/main" val="193885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92168D5-E14C-4515-914F-10E1EB5DC2C8}"/>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8D7AFB3E-9ABC-4C98-8085-6F9E9F105AC7}"/>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Creating measurable value</a:t>
            </a:r>
          </a:p>
        </p:txBody>
      </p:sp>
      <p:sp>
        <p:nvSpPr>
          <p:cNvPr id="3" name="Rectangle 2">
            <a:extLst>
              <a:ext uri="{FF2B5EF4-FFF2-40B4-BE49-F238E27FC236}">
                <a16:creationId xmlns:a16="http://schemas.microsoft.com/office/drawing/2014/main" id="{A008B6CE-7D96-4F97-93AB-398AF54D2658}"/>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Technology investment should address real operational challenges and demonstrate results</a:t>
            </a:r>
          </a:p>
        </p:txBody>
      </p:sp>
      <p:sp>
        <p:nvSpPr>
          <p:cNvPr id="4" name="Rectangle 3">
            <a:extLst>
              <a:ext uri="{FF2B5EF4-FFF2-40B4-BE49-F238E27FC236}">
                <a16:creationId xmlns:a16="http://schemas.microsoft.com/office/drawing/2014/main" id="{30C5B50A-2CE9-4200-9D50-A54AFF43C119}"/>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E4B7E600-724E-4FBA-982D-FA49B4B6F392}"/>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04</a:t>
            </a:r>
          </a:p>
        </p:txBody>
      </p:sp>
      <p:sp>
        <p:nvSpPr>
          <p:cNvPr id="6" name="Rectangle 5">
            <a:extLst>
              <a:ext uri="{FF2B5EF4-FFF2-40B4-BE49-F238E27FC236}">
                <a16:creationId xmlns:a16="http://schemas.microsoft.com/office/drawing/2014/main" id="{033DA513-0528-44BC-BEF2-6B4593F17C45}"/>
              </a:ext>
            </a:extLst>
          </p:cNvPr>
          <p:cNvSpPr>
            <a:spLocks noGrp="1"/>
          </p:cNvSpPr>
          <p:nvPr/>
        </p:nvSpPr>
        <p:spPr>
          <a:xfrm>
            <a:off x="609600" y="2762250"/>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Faster delivery</a:t>
            </a:r>
          </a:p>
        </p:txBody>
      </p:sp>
      <p:sp>
        <p:nvSpPr>
          <p:cNvPr id="7" name="Rectangle 6">
            <a:extLst>
              <a:ext uri="{FF2B5EF4-FFF2-40B4-BE49-F238E27FC236}">
                <a16:creationId xmlns:a16="http://schemas.microsoft.com/office/drawing/2014/main" id="{AF626BD0-15F6-4A17-9232-1D3501B40D59}"/>
              </a:ext>
            </a:extLst>
          </p:cNvPr>
          <p:cNvSpPr>
            <a:spLocks noGrp="1"/>
          </p:cNvSpPr>
          <p:nvPr/>
        </p:nvSpPr>
        <p:spPr>
          <a:xfrm>
            <a:off x="609600" y="3171825"/>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Activity duration and milestone performance</a:t>
            </a:r>
          </a:p>
        </p:txBody>
      </p:sp>
      <p:sp>
        <p:nvSpPr>
          <p:cNvPr id="8" name="Rectangle 7">
            <a:extLst>
              <a:ext uri="{FF2B5EF4-FFF2-40B4-BE49-F238E27FC236}">
                <a16:creationId xmlns:a16="http://schemas.microsoft.com/office/drawing/2014/main" id="{402DDF25-EFCD-4DAD-AA3F-0FAF1EE86CD1}"/>
              </a:ext>
            </a:extLst>
          </p:cNvPr>
          <p:cNvSpPr>
            <a:spLocks noGrp="1"/>
          </p:cNvSpPr>
          <p:nvPr/>
        </p:nvSpPr>
        <p:spPr>
          <a:xfrm>
            <a:off x="609600" y="3724275"/>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Improved quality</a:t>
            </a:r>
          </a:p>
        </p:txBody>
      </p:sp>
      <p:sp>
        <p:nvSpPr>
          <p:cNvPr id="9" name="Rectangle 8">
            <a:extLst>
              <a:ext uri="{FF2B5EF4-FFF2-40B4-BE49-F238E27FC236}">
                <a16:creationId xmlns:a16="http://schemas.microsoft.com/office/drawing/2014/main" id="{6FBFBEDB-04B8-4107-9E85-5CE3AD7D18C6}"/>
              </a:ext>
            </a:extLst>
          </p:cNvPr>
          <p:cNvSpPr>
            <a:spLocks noGrp="1"/>
          </p:cNvSpPr>
          <p:nvPr/>
        </p:nvSpPr>
        <p:spPr>
          <a:xfrm>
            <a:off x="609600" y="4133850"/>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Rework hours and defect closure</a:t>
            </a:r>
          </a:p>
        </p:txBody>
      </p:sp>
      <p:sp>
        <p:nvSpPr>
          <p:cNvPr id="10" name="Rectangle 9">
            <a:extLst>
              <a:ext uri="{FF2B5EF4-FFF2-40B4-BE49-F238E27FC236}">
                <a16:creationId xmlns:a16="http://schemas.microsoft.com/office/drawing/2014/main" id="{94D37AC5-5D28-4647-BBBA-A2D794F71956}"/>
              </a:ext>
            </a:extLst>
          </p:cNvPr>
          <p:cNvSpPr>
            <a:spLocks noGrp="1"/>
          </p:cNvSpPr>
          <p:nvPr/>
        </p:nvSpPr>
        <p:spPr>
          <a:xfrm>
            <a:off x="609600" y="4686300"/>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Reduced costs</a:t>
            </a:r>
          </a:p>
        </p:txBody>
      </p:sp>
      <p:sp>
        <p:nvSpPr>
          <p:cNvPr id="11" name="Rectangle 10">
            <a:extLst>
              <a:ext uri="{FF2B5EF4-FFF2-40B4-BE49-F238E27FC236}">
                <a16:creationId xmlns:a16="http://schemas.microsoft.com/office/drawing/2014/main" id="{41152D04-8A29-44A2-9A7D-60726C0BDEBC}"/>
              </a:ext>
            </a:extLst>
          </p:cNvPr>
          <p:cNvSpPr>
            <a:spLocks noGrp="1"/>
          </p:cNvSpPr>
          <p:nvPr/>
        </p:nvSpPr>
        <p:spPr>
          <a:xfrm>
            <a:off x="609600" y="5095875"/>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Unit cost and verified savings</a:t>
            </a:r>
          </a:p>
        </p:txBody>
      </p:sp>
      <p:sp>
        <p:nvSpPr>
          <p:cNvPr id="12" name="Rectangle 11">
            <a:extLst>
              <a:ext uri="{FF2B5EF4-FFF2-40B4-BE49-F238E27FC236}">
                <a16:creationId xmlns:a16="http://schemas.microsoft.com/office/drawing/2014/main" id="{A6CD1088-2081-463E-9C80-05B9C52A6E76}"/>
              </a:ext>
            </a:extLst>
          </p:cNvPr>
          <p:cNvSpPr>
            <a:spLocks noGrp="1"/>
          </p:cNvSpPr>
          <p:nvPr/>
        </p:nvSpPr>
        <p:spPr>
          <a:xfrm>
            <a:off x="6286500" y="2762250"/>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Higher productivity</a:t>
            </a:r>
          </a:p>
        </p:txBody>
      </p:sp>
      <p:sp>
        <p:nvSpPr>
          <p:cNvPr id="13" name="Rectangle 12">
            <a:extLst>
              <a:ext uri="{FF2B5EF4-FFF2-40B4-BE49-F238E27FC236}">
                <a16:creationId xmlns:a16="http://schemas.microsoft.com/office/drawing/2014/main" id="{58B3054B-2A34-47B5-8B76-8058B34AB1B4}"/>
              </a:ext>
            </a:extLst>
          </p:cNvPr>
          <p:cNvSpPr>
            <a:spLocks noGrp="1"/>
          </p:cNvSpPr>
          <p:nvPr/>
        </p:nvSpPr>
        <p:spPr>
          <a:xfrm>
            <a:off x="6286500" y="3171825"/>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Output per labor or equipment hour</a:t>
            </a:r>
          </a:p>
        </p:txBody>
      </p:sp>
      <p:sp>
        <p:nvSpPr>
          <p:cNvPr id="14" name="Rectangle 13">
            <a:extLst>
              <a:ext uri="{FF2B5EF4-FFF2-40B4-BE49-F238E27FC236}">
                <a16:creationId xmlns:a16="http://schemas.microsoft.com/office/drawing/2014/main" id="{394EC386-BFB9-4983-B5C3-D09B3F8BEA13}"/>
              </a:ext>
            </a:extLst>
          </p:cNvPr>
          <p:cNvSpPr>
            <a:spLocks noGrp="1"/>
          </p:cNvSpPr>
          <p:nvPr/>
        </p:nvSpPr>
        <p:spPr>
          <a:xfrm>
            <a:off x="6286500" y="3724275"/>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Better project control</a:t>
            </a:r>
          </a:p>
        </p:txBody>
      </p:sp>
      <p:sp>
        <p:nvSpPr>
          <p:cNvPr id="15" name="Rectangle 14">
            <a:extLst>
              <a:ext uri="{FF2B5EF4-FFF2-40B4-BE49-F238E27FC236}">
                <a16:creationId xmlns:a16="http://schemas.microsoft.com/office/drawing/2014/main" id="{61585C70-C8E1-4987-9FD9-68256773A732}"/>
              </a:ext>
            </a:extLst>
          </p:cNvPr>
          <p:cNvSpPr>
            <a:spLocks noGrp="1"/>
          </p:cNvSpPr>
          <p:nvPr/>
        </p:nvSpPr>
        <p:spPr>
          <a:xfrm>
            <a:off x="6286500" y="4133850"/>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Reporting timeliness and forecast accuracy</a:t>
            </a:r>
          </a:p>
        </p:txBody>
      </p:sp>
      <p:sp>
        <p:nvSpPr>
          <p:cNvPr id="16" name="Rectangle 15">
            <a:extLst>
              <a:ext uri="{FF2B5EF4-FFF2-40B4-BE49-F238E27FC236}">
                <a16:creationId xmlns:a16="http://schemas.microsoft.com/office/drawing/2014/main" id="{3F40C7CE-187D-43F1-8A11-5EEAAE54BD02}"/>
              </a:ext>
            </a:extLst>
          </p:cNvPr>
          <p:cNvSpPr>
            <a:spLocks noGrp="1"/>
          </p:cNvSpPr>
          <p:nvPr/>
        </p:nvSpPr>
        <p:spPr>
          <a:xfrm>
            <a:off x="6286500" y="4686300"/>
            <a:ext cx="5295900" cy="381000"/>
          </a:xfrm>
          <a:prstGeom prst="rect">
            <a:avLst/>
          </a:prstGeom>
          <a:noFill/>
          <a:ln w="0">
            <a:noFill/>
          </a:ln>
        </p:spPr>
        <p:txBody>
          <a:bodyPr/>
          <a:lstStyle>
            <a:defPPr>
              <a:defRPr sz="2025" b="1">
                <a:solidFill>
                  <a:srgbClr val="007F83"/>
                </a:solidFill>
                <a:latin typeface="DejaVu Sans"/>
                <a:ea typeface="DejaVu Sans"/>
                <a:cs typeface="DejaVu Sans"/>
              </a:defRPr>
            </a:defPPr>
          </a:lstStyle>
          <a:p>
            <a:pPr>
              <a:defRPr sz="2025" b="1">
                <a:solidFill>
                  <a:srgbClr val="007F83"/>
                </a:solidFill>
                <a:latin typeface="DejaVu Sans"/>
                <a:ea typeface="DejaVu Sans"/>
                <a:cs typeface="DejaVu Sans"/>
              </a:defRPr>
            </a:pPr>
            <a:r>
              <a:rPr sz="2025" b="1">
                <a:solidFill>
                  <a:srgbClr val="007F83"/>
                </a:solidFill>
                <a:latin typeface="DejaVu Sans"/>
                <a:ea typeface="DejaVu Sans"/>
                <a:cs typeface="DejaVu Sans"/>
              </a:rPr>
              <a:t>Less material waste</a:t>
            </a:r>
          </a:p>
        </p:txBody>
      </p:sp>
      <p:sp>
        <p:nvSpPr>
          <p:cNvPr id="17" name="Rectangle 16">
            <a:extLst>
              <a:ext uri="{FF2B5EF4-FFF2-40B4-BE49-F238E27FC236}">
                <a16:creationId xmlns:a16="http://schemas.microsoft.com/office/drawing/2014/main" id="{8042634B-759A-44F8-A5AF-284F2471C8A1}"/>
              </a:ext>
            </a:extLst>
          </p:cNvPr>
          <p:cNvSpPr>
            <a:spLocks noGrp="1"/>
          </p:cNvSpPr>
          <p:nvPr/>
        </p:nvSpPr>
        <p:spPr>
          <a:xfrm>
            <a:off x="6286500" y="5095875"/>
            <a:ext cx="5295900" cy="419100"/>
          </a:xfrm>
          <a:prstGeom prst="rect">
            <a:avLst/>
          </a:prstGeom>
          <a:noFill/>
          <a:ln w="0">
            <a:noFill/>
          </a:ln>
        </p:spPr>
        <p:txBody>
          <a:bodyPr/>
          <a:lstStyle>
            <a:defPPr>
              <a:defRPr sz="1500" b="0">
                <a:solidFill>
                  <a:srgbClr val="60727B"/>
                </a:solidFill>
                <a:latin typeface="DejaVu Sans"/>
                <a:ea typeface="DejaVu Sans"/>
                <a:cs typeface="DejaVu Sans"/>
              </a:defRPr>
            </a:defPPr>
          </a:lstStyle>
          <a:p>
            <a:pPr>
              <a:defRPr sz="1500" b="0">
                <a:solidFill>
                  <a:srgbClr val="60727B"/>
                </a:solidFill>
                <a:latin typeface="DejaVu Sans"/>
                <a:ea typeface="DejaVu Sans"/>
                <a:cs typeface="DejaVu Sans"/>
              </a:defRPr>
            </a:pPr>
            <a:r>
              <a:rPr sz="1500" b="0">
                <a:solidFill>
                  <a:srgbClr val="60727B"/>
                </a:solidFill>
                <a:latin typeface="DejaVu Sans"/>
                <a:ea typeface="DejaVu Sans"/>
                <a:cs typeface="DejaVu Sans"/>
              </a:rPr>
              <a:t>Waste quantity against material usage</a:t>
            </a:r>
          </a:p>
        </p:txBody>
      </p:sp>
      <p:sp>
        <p:nvSpPr>
          <p:cNvPr id="18" name="Rectangle 17">
            <a:extLst>
              <a:ext uri="{FF2B5EF4-FFF2-40B4-BE49-F238E27FC236}">
                <a16:creationId xmlns:a16="http://schemas.microsoft.com/office/drawing/2014/main" id="{466CED12-0F38-4E14-9922-A08196919C3D}"/>
              </a:ext>
            </a:extLst>
          </p:cNvPr>
          <p:cNvSpPr>
            <a:spLocks noGrp="1"/>
          </p:cNvSpPr>
          <p:nvPr/>
        </p:nvSpPr>
        <p:spPr>
          <a:xfrm>
            <a:off x="609600" y="5810250"/>
            <a:ext cx="2667000" cy="333375"/>
          </a:xfrm>
          <a:prstGeom prst="rect">
            <a:avLst/>
          </a:prstGeom>
          <a:noFill/>
          <a:ln w="0">
            <a:noFill/>
          </a:ln>
        </p:spPr>
        <p:txBody>
          <a:bodyPr/>
          <a:lstStyle>
            <a:defPPr>
              <a:defRPr sz="1650" b="1">
                <a:solidFill>
                  <a:srgbClr val="20333D"/>
                </a:solidFill>
                <a:latin typeface="DejaVu Sans"/>
                <a:ea typeface="DejaVu Sans"/>
                <a:cs typeface="DejaVu Sans"/>
              </a:defRPr>
            </a:defPPr>
          </a:lstStyle>
          <a:p>
            <a:pPr>
              <a:defRPr sz="1650" b="1">
                <a:solidFill>
                  <a:srgbClr val="20333D"/>
                </a:solidFill>
                <a:latin typeface="DejaVu Sans"/>
                <a:ea typeface="DejaVu Sans"/>
                <a:cs typeface="DejaVu Sans"/>
              </a:defRPr>
            </a:pPr>
            <a:r>
              <a:rPr sz="1650" b="1">
                <a:solidFill>
                  <a:srgbClr val="20333D"/>
                </a:solidFill>
                <a:latin typeface="DejaVu Sans"/>
                <a:ea typeface="DejaVu Sans"/>
                <a:cs typeface="DejaVu Sans"/>
              </a:rPr>
              <a:t>Execution approach</a:t>
            </a:r>
          </a:p>
        </p:txBody>
      </p:sp>
      <p:sp>
        <p:nvSpPr>
          <p:cNvPr id="19" name="Rectangle 18">
            <a:extLst>
              <a:ext uri="{FF2B5EF4-FFF2-40B4-BE49-F238E27FC236}">
                <a16:creationId xmlns:a16="http://schemas.microsoft.com/office/drawing/2014/main" id="{2CBE9597-AE5A-4308-8CBD-A27D67728AB8}"/>
              </a:ext>
            </a:extLst>
          </p:cNvPr>
          <p:cNvSpPr>
            <a:spLocks noGrp="1"/>
          </p:cNvSpPr>
          <p:nvPr/>
        </p:nvSpPr>
        <p:spPr>
          <a:xfrm>
            <a:off x="3476625" y="5810250"/>
            <a:ext cx="8096250" cy="514350"/>
          </a:xfrm>
          <a:prstGeom prst="rect">
            <a:avLst/>
          </a:prstGeom>
          <a:noFill/>
          <a:ln w="0">
            <a:noFill/>
          </a:ln>
        </p:spPr>
        <p:txBody>
          <a:bodyPr/>
          <a:lstStyle>
            <a:defPPr>
              <a:defRPr sz="1575" b="0">
                <a:solidFill>
                  <a:srgbClr val="20333D"/>
                </a:solidFill>
                <a:latin typeface="DejaVu Sans"/>
                <a:ea typeface="DejaVu Sans"/>
                <a:cs typeface="DejaVu Sans"/>
              </a:defRPr>
            </a:defPPr>
          </a:lstStyle>
          <a:p>
            <a:pPr>
              <a:defRPr sz="1575" b="0">
                <a:solidFill>
                  <a:srgbClr val="20333D"/>
                </a:solidFill>
                <a:latin typeface="DejaVu Sans"/>
                <a:ea typeface="DejaVu Sans"/>
                <a:cs typeface="DejaVu Sans"/>
              </a:defRPr>
            </a:pPr>
            <a:r>
              <a:rPr sz="1575" b="0">
                <a:solidFill>
                  <a:srgbClr val="20333D"/>
                </a:solidFill>
                <a:latin typeface="DejaVu Sans"/>
                <a:ea typeface="DejaVu Sans"/>
                <a:cs typeface="DejaVu Sans"/>
              </a:rPr>
              <a:t>Invest across teams, connect site data with management and optimize resources.</a:t>
            </a:r>
          </a:p>
        </p:txBody>
      </p:sp>
    </p:spTree>
    <p:extLst>
      <p:ext uri="{BB962C8B-B14F-4D97-AF65-F5344CB8AC3E}">
        <p14:creationId xmlns:p14="http://schemas.microsoft.com/office/powerpoint/2010/main" val="1197361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0A7F91D-6210-401A-B478-57D71631B9B1}"/>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AB25D48A-C2BD-4AFA-9307-2DF729046A71}"/>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Digital site management</a:t>
            </a:r>
          </a:p>
        </p:txBody>
      </p:sp>
      <p:sp>
        <p:nvSpPr>
          <p:cNvPr id="3" name="Rectangle 2">
            <a:extLst>
              <a:ext uri="{FF2B5EF4-FFF2-40B4-BE49-F238E27FC236}">
                <a16:creationId xmlns:a16="http://schemas.microsoft.com/office/drawing/2014/main" id="{88D289A5-3322-41CE-8F8E-D95155B6FE4D}"/>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Underground scanning and connected site information are priorities for evaluation</a:t>
            </a:r>
          </a:p>
        </p:txBody>
      </p:sp>
      <p:sp>
        <p:nvSpPr>
          <p:cNvPr id="4" name="Rectangle 3">
            <a:extLst>
              <a:ext uri="{FF2B5EF4-FFF2-40B4-BE49-F238E27FC236}">
                <a16:creationId xmlns:a16="http://schemas.microsoft.com/office/drawing/2014/main" id="{D97AF0AA-C98B-4AD7-AF16-E07C2BE176F8}"/>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8D3B2F7E-59A7-40CA-9469-62207E172F87}"/>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05</a:t>
            </a:r>
          </a:p>
        </p:txBody>
      </p:sp>
      <p:sp>
        <p:nvSpPr>
          <p:cNvPr id="6" name="Rectangle 5">
            <a:extLst>
              <a:ext uri="{FF2B5EF4-FFF2-40B4-BE49-F238E27FC236}">
                <a16:creationId xmlns:a16="http://schemas.microsoft.com/office/drawing/2014/main" id="{91F1979C-3E62-4DC5-90FD-DE62997735DF}"/>
              </a:ext>
            </a:extLst>
          </p:cNvPr>
          <p:cNvSpPr>
            <a:spLocks noGrp="1"/>
          </p:cNvSpPr>
          <p:nvPr/>
        </p:nvSpPr>
        <p:spPr>
          <a:xfrm>
            <a:off x="609600" y="2809875"/>
            <a:ext cx="4762500" cy="428625"/>
          </a:xfrm>
          <a:prstGeom prst="rect">
            <a:avLst/>
          </a:prstGeom>
          <a:noFill/>
          <a:ln w="0">
            <a:noFill/>
          </a:ln>
        </p:spPr>
        <p:txBody>
          <a:bodyPr/>
          <a:lstStyle>
            <a:defPPr>
              <a:defRPr sz="2250" b="1">
                <a:solidFill>
                  <a:srgbClr val="007F83"/>
                </a:solidFill>
                <a:latin typeface="DejaVu Sans"/>
                <a:ea typeface="DejaVu Sans"/>
                <a:cs typeface="DejaVu Sans"/>
              </a:defRPr>
            </a:defPPr>
          </a:lstStyle>
          <a:p>
            <a:pPr>
              <a:defRPr sz="2250" b="1">
                <a:solidFill>
                  <a:srgbClr val="007F83"/>
                </a:solidFill>
                <a:latin typeface="DejaVu Sans"/>
                <a:ea typeface="DejaVu Sans"/>
                <a:cs typeface="DejaVu Sans"/>
              </a:defRPr>
            </a:pPr>
            <a:r>
              <a:rPr sz="2250" b="1">
                <a:solidFill>
                  <a:srgbClr val="007F83"/>
                </a:solidFill>
                <a:latin typeface="DejaVu Sans"/>
                <a:ea typeface="DejaVu Sans"/>
                <a:cs typeface="DejaVu Sans"/>
              </a:rPr>
              <a:t>Underground scanning</a:t>
            </a:r>
          </a:p>
        </p:txBody>
      </p:sp>
      <p:sp>
        <p:nvSpPr>
          <p:cNvPr id="7" name="Rectangle 6">
            <a:extLst>
              <a:ext uri="{FF2B5EF4-FFF2-40B4-BE49-F238E27FC236}">
                <a16:creationId xmlns:a16="http://schemas.microsoft.com/office/drawing/2014/main" id="{B83EB9D8-A0F5-43A7-87A8-49CB8D0057CB}"/>
              </a:ext>
            </a:extLst>
          </p:cNvPr>
          <p:cNvSpPr>
            <a:spLocks noGrp="1"/>
          </p:cNvSpPr>
          <p:nvPr/>
        </p:nvSpPr>
        <p:spPr>
          <a:xfrm>
            <a:off x="609600" y="3438525"/>
            <a:ext cx="4857750" cy="904875"/>
          </a:xfrm>
          <a:prstGeom prst="rect">
            <a:avLst/>
          </a:prstGeom>
          <a:noFill/>
          <a:ln w="0">
            <a:noFill/>
          </a:ln>
        </p:spPr>
        <p:txBody>
          <a:bodyPr/>
          <a:lstStyle>
            <a:defPPr>
              <a:defRPr sz="1875" b="0">
                <a:solidFill>
                  <a:srgbClr val="20333D"/>
                </a:solidFill>
                <a:latin typeface="DejaVu Sans"/>
                <a:ea typeface="DejaVu Sans"/>
                <a:cs typeface="DejaVu Sans"/>
              </a:defRPr>
            </a:defPPr>
          </a:lstStyle>
          <a:p>
            <a:pPr>
              <a:defRPr sz="1875" b="0">
                <a:solidFill>
                  <a:srgbClr val="20333D"/>
                </a:solidFill>
                <a:latin typeface="DejaVu Sans"/>
                <a:ea typeface="DejaVu Sans"/>
                <a:cs typeface="DejaVu Sans"/>
              </a:defRPr>
            </a:pPr>
            <a:r>
              <a:rPr sz="1875" b="0">
                <a:solidFill>
                  <a:srgbClr val="20333D"/>
                </a:solidFill>
                <a:latin typeface="DejaVu Sans"/>
                <a:ea typeface="DejaVu Sans"/>
                <a:cs typeface="DejaVu Sans"/>
              </a:rPr>
              <a:t>Evaluate tools and software to improve identification of utilities and site conditions.</a:t>
            </a:r>
          </a:p>
        </p:txBody>
      </p:sp>
      <p:sp>
        <p:nvSpPr>
          <p:cNvPr id="8" name="Rectangle 7">
            <a:extLst>
              <a:ext uri="{FF2B5EF4-FFF2-40B4-BE49-F238E27FC236}">
                <a16:creationId xmlns:a16="http://schemas.microsoft.com/office/drawing/2014/main" id="{FDAF476F-8861-4234-84EE-EF2D1307167B}"/>
              </a:ext>
            </a:extLst>
          </p:cNvPr>
          <p:cNvSpPr>
            <a:spLocks noGrp="1"/>
          </p:cNvSpPr>
          <p:nvPr/>
        </p:nvSpPr>
        <p:spPr>
          <a:xfrm>
            <a:off x="609600" y="4638675"/>
            <a:ext cx="4857750" cy="904875"/>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Aim to shorten investigations, prevent avoidable rework and reduce costs.</a:t>
            </a:r>
          </a:p>
        </p:txBody>
      </p:sp>
      <p:sp>
        <p:nvSpPr>
          <p:cNvPr id="9" name="Rectangle 8">
            <a:extLst>
              <a:ext uri="{FF2B5EF4-FFF2-40B4-BE49-F238E27FC236}">
                <a16:creationId xmlns:a16="http://schemas.microsoft.com/office/drawing/2014/main" id="{38232350-3DB8-4628-891F-82FE2DC6551B}"/>
              </a:ext>
            </a:extLst>
          </p:cNvPr>
          <p:cNvSpPr>
            <a:spLocks noGrp="1"/>
          </p:cNvSpPr>
          <p:nvPr/>
        </p:nvSpPr>
        <p:spPr>
          <a:xfrm>
            <a:off x="6324600" y="2809875"/>
            <a:ext cx="5257800" cy="428625"/>
          </a:xfrm>
          <a:prstGeom prst="rect">
            <a:avLst/>
          </a:prstGeom>
          <a:noFill/>
          <a:ln w="0">
            <a:noFill/>
          </a:ln>
        </p:spPr>
        <p:txBody>
          <a:bodyPr/>
          <a:lstStyle>
            <a:defPPr>
              <a:defRPr sz="2100" b="1">
                <a:solidFill>
                  <a:srgbClr val="007F83"/>
                </a:solidFill>
                <a:latin typeface="DejaVu Sans"/>
                <a:ea typeface="DejaVu Sans"/>
                <a:cs typeface="DejaVu Sans"/>
              </a:defRPr>
            </a:defPPr>
          </a:lstStyle>
          <a:p>
            <a:pPr>
              <a:defRPr sz="2100" b="1">
                <a:solidFill>
                  <a:srgbClr val="007F83"/>
                </a:solidFill>
                <a:latin typeface="DejaVu Sans"/>
                <a:ea typeface="DejaVu Sans"/>
                <a:cs typeface="DejaVu Sans"/>
              </a:defRPr>
            </a:pPr>
            <a:r>
              <a:rPr sz="2100" b="1">
                <a:solidFill>
                  <a:srgbClr val="007F83"/>
                </a:solidFill>
                <a:latin typeface="DejaVu Sans"/>
                <a:ea typeface="DejaVu Sans"/>
                <a:cs typeface="DejaVu Sans"/>
              </a:rPr>
              <a:t>Site-to-management connectivity</a:t>
            </a:r>
          </a:p>
        </p:txBody>
      </p:sp>
      <p:sp>
        <p:nvSpPr>
          <p:cNvPr id="10" name="Rectangle 9">
            <a:extLst>
              <a:ext uri="{FF2B5EF4-FFF2-40B4-BE49-F238E27FC236}">
                <a16:creationId xmlns:a16="http://schemas.microsoft.com/office/drawing/2014/main" id="{E30E9E21-4EF4-4FC7-BDE7-9B618BDF829C}"/>
              </a:ext>
            </a:extLst>
          </p:cNvPr>
          <p:cNvSpPr>
            <a:spLocks noGrp="1"/>
          </p:cNvSpPr>
          <p:nvPr/>
        </p:nvSpPr>
        <p:spPr>
          <a:xfrm>
            <a:off x="6324600" y="3438525"/>
            <a:ext cx="5257800" cy="904875"/>
          </a:xfrm>
          <a:prstGeom prst="rect">
            <a:avLst/>
          </a:prstGeom>
          <a:noFill/>
          <a:ln w="0">
            <a:noFill/>
          </a:ln>
        </p:spPr>
        <p:txBody>
          <a:bodyPr/>
          <a:lstStyle>
            <a:defPPr>
              <a:defRPr sz="1875" b="0">
                <a:solidFill>
                  <a:srgbClr val="20333D"/>
                </a:solidFill>
                <a:latin typeface="DejaVu Sans"/>
                <a:ea typeface="DejaVu Sans"/>
                <a:cs typeface="DejaVu Sans"/>
              </a:defRPr>
            </a:defPPr>
          </a:lstStyle>
          <a:p>
            <a:pPr>
              <a:defRPr sz="1875" b="0">
                <a:solidFill>
                  <a:srgbClr val="20333D"/>
                </a:solidFill>
                <a:latin typeface="DejaVu Sans"/>
                <a:ea typeface="DejaVu Sans"/>
                <a:cs typeface="DejaVu Sans"/>
              </a:defRPr>
            </a:pPr>
            <a:r>
              <a:rPr sz="1875" b="0">
                <a:solidFill>
                  <a:srgbClr val="20333D"/>
                </a:solidFill>
                <a:latin typeface="DejaVu Sans"/>
                <a:ea typeface="DejaVu Sans"/>
                <a:cs typeface="DejaVu Sans"/>
              </a:rPr>
              <a:t>Plan digital systems that provide timely, accurate information for better decisions.</a:t>
            </a:r>
          </a:p>
        </p:txBody>
      </p:sp>
      <p:sp>
        <p:nvSpPr>
          <p:cNvPr id="11" name="Rectangle 10">
            <a:extLst>
              <a:ext uri="{FF2B5EF4-FFF2-40B4-BE49-F238E27FC236}">
                <a16:creationId xmlns:a16="http://schemas.microsoft.com/office/drawing/2014/main" id="{9CBD1E74-E697-48F8-8CDD-56303D65AAE7}"/>
              </a:ext>
            </a:extLst>
          </p:cNvPr>
          <p:cNvSpPr>
            <a:spLocks noGrp="1"/>
          </p:cNvSpPr>
          <p:nvPr/>
        </p:nvSpPr>
        <p:spPr>
          <a:xfrm>
            <a:off x="6324600" y="4638675"/>
            <a:ext cx="5257800" cy="904875"/>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Improve planning, coordination and monitoring to reduce waste and delays.</a:t>
            </a:r>
          </a:p>
        </p:txBody>
      </p:sp>
      <p:sp>
        <p:nvSpPr>
          <p:cNvPr id="12" name="Rectangle 11">
            <a:extLst>
              <a:ext uri="{FF2B5EF4-FFF2-40B4-BE49-F238E27FC236}">
                <a16:creationId xmlns:a16="http://schemas.microsoft.com/office/drawing/2014/main" id="{9D1311F3-5A9A-49DD-BD23-E5B0C1894381}"/>
              </a:ext>
            </a:extLst>
          </p:cNvPr>
          <p:cNvSpPr>
            <a:spLocks noGrp="1"/>
          </p:cNvSpPr>
          <p:nvPr/>
        </p:nvSpPr>
        <p:spPr>
          <a:xfrm>
            <a:off x="609600" y="5576888"/>
            <a:ext cx="11314176" cy="647700"/>
          </a:xfrm>
          <a:prstGeom prst="rect">
            <a:avLst/>
          </a:prstGeom>
          <a:noFill/>
          <a:ln w="0">
            <a:noFill/>
          </a:ln>
        </p:spPr>
        <p:txBody>
          <a:bodyPr/>
          <a:lstStyle>
            <a:defPPr>
              <a:defRPr sz="1725" b="1">
                <a:solidFill>
                  <a:srgbClr val="007F83"/>
                </a:solidFill>
                <a:latin typeface="DejaVu Sans"/>
                <a:ea typeface="DejaVu Sans"/>
                <a:cs typeface="DejaVu Sans"/>
              </a:defRPr>
            </a:defPPr>
          </a:lstStyle>
          <a:p>
            <a:pPr>
              <a:defRPr sz="1725" b="1">
                <a:solidFill>
                  <a:srgbClr val="007F83"/>
                </a:solidFill>
                <a:latin typeface="DejaVu Sans"/>
                <a:ea typeface="DejaVu Sans"/>
                <a:cs typeface="DejaVu Sans"/>
              </a:defRPr>
            </a:pPr>
            <a:r>
              <a:rPr lang="en-US" sz="1725" b="1" dirty="0">
                <a:solidFill>
                  <a:srgbClr val="007F83"/>
                </a:solidFill>
                <a:latin typeface="DejaVu Sans"/>
                <a:ea typeface="DejaVu Sans"/>
                <a:cs typeface="DejaVu Sans"/>
              </a:rPr>
              <a:t>Digital reporting related to progress, heavy equipment utilization, fuel consumptions is now live.  </a:t>
            </a:r>
            <a:endParaRPr sz="1725" b="1" dirty="0">
              <a:solidFill>
                <a:srgbClr val="007F83"/>
              </a:solidFill>
              <a:latin typeface="DejaVu Sans"/>
              <a:ea typeface="DejaVu Sans"/>
              <a:cs typeface="DejaVu Sans"/>
            </a:endParaRPr>
          </a:p>
        </p:txBody>
      </p:sp>
    </p:spTree>
    <p:extLst>
      <p:ext uri="{BB962C8B-B14F-4D97-AF65-F5344CB8AC3E}">
        <p14:creationId xmlns:p14="http://schemas.microsoft.com/office/powerpoint/2010/main" val="188066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5F2ECF0-59D3-48E7-A699-3B24B3A26E68}"/>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D321A6DB-255A-43D5-A4EB-19C6DB37BA08}"/>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New sectors &amp; diversification</a:t>
            </a:r>
          </a:p>
        </p:txBody>
      </p:sp>
      <p:sp>
        <p:nvSpPr>
          <p:cNvPr id="3" name="Rectangle 2">
            <a:extLst>
              <a:ext uri="{FF2B5EF4-FFF2-40B4-BE49-F238E27FC236}">
                <a16:creationId xmlns:a16="http://schemas.microsoft.com/office/drawing/2014/main" id="{05DBB874-8587-41E2-BBCC-19E8BA51390E}"/>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Innovo Infra is now registered and will participate in tenders across additional infrastructure sectors</a:t>
            </a:r>
          </a:p>
        </p:txBody>
      </p:sp>
      <p:sp>
        <p:nvSpPr>
          <p:cNvPr id="4" name="Rectangle 3">
            <a:extLst>
              <a:ext uri="{FF2B5EF4-FFF2-40B4-BE49-F238E27FC236}">
                <a16:creationId xmlns:a16="http://schemas.microsoft.com/office/drawing/2014/main" id="{83403FE8-AACD-43E8-8113-84ED8F613A6B}"/>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8A380634-C7CA-4C32-9872-49EA9CDE26C3}"/>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06</a:t>
            </a:r>
          </a:p>
        </p:txBody>
      </p:sp>
      <p:sp>
        <p:nvSpPr>
          <p:cNvPr id="6" name="Rectangle 5">
            <a:extLst>
              <a:ext uri="{FF2B5EF4-FFF2-40B4-BE49-F238E27FC236}">
                <a16:creationId xmlns:a16="http://schemas.microsoft.com/office/drawing/2014/main" id="{B1ADB482-9222-402A-B7DC-4E04F6E5BEC5}"/>
              </a:ext>
            </a:extLst>
          </p:cNvPr>
          <p:cNvSpPr>
            <a:spLocks noGrp="1"/>
          </p:cNvSpPr>
          <p:nvPr/>
        </p:nvSpPr>
        <p:spPr>
          <a:xfrm>
            <a:off x="609600" y="2676525"/>
            <a:ext cx="3143250" cy="342900"/>
          </a:xfrm>
          <a:prstGeom prst="rect">
            <a:avLst/>
          </a:prstGeom>
          <a:noFill/>
          <a:ln w="0">
            <a:noFill/>
          </a:ln>
        </p:spPr>
        <p:txBody>
          <a:bodyPr/>
          <a:lstStyle>
            <a:defPPr>
              <a:defRPr sz="1875" b="1">
                <a:solidFill>
                  <a:srgbClr val="007F83"/>
                </a:solidFill>
                <a:latin typeface="DejaVu Sans"/>
                <a:ea typeface="DejaVu Sans"/>
                <a:cs typeface="DejaVu Sans"/>
              </a:defRPr>
            </a:defPPr>
          </a:lstStyle>
          <a:p>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Sea ports</a:t>
            </a:r>
          </a:p>
        </p:txBody>
      </p:sp>
      <p:sp>
        <p:nvSpPr>
          <p:cNvPr id="7" name="Rectangle 6">
            <a:extLst>
              <a:ext uri="{FF2B5EF4-FFF2-40B4-BE49-F238E27FC236}">
                <a16:creationId xmlns:a16="http://schemas.microsoft.com/office/drawing/2014/main" id="{9F1EDE25-1506-4B3E-98D5-C73534DC5CBE}"/>
              </a:ext>
            </a:extLst>
          </p:cNvPr>
          <p:cNvSpPr>
            <a:spLocks noGrp="1"/>
          </p:cNvSpPr>
          <p:nvPr/>
        </p:nvSpPr>
        <p:spPr>
          <a:xfrm>
            <a:off x="4038600" y="2676525"/>
            <a:ext cx="7543800" cy="400050"/>
          </a:xfrm>
          <a:prstGeom prst="rect">
            <a:avLst/>
          </a:prstGeom>
          <a:noFill/>
          <a:ln w="0">
            <a:noFill/>
          </a:ln>
        </p:spPr>
        <p:txBody>
          <a:bodyPr/>
          <a:lstStyle>
            <a:defPPr>
              <a:defRPr sz="1650" b="0">
                <a:solidFill>
                  <a:srgbClr val="20333D"/>
                </a:solidFill>
                <a:latin typeface="DejaVu Sans"/>
                <a:ea typeface="DejaVu Sans"/>
                <a:cs typeface="DejaVu Sans"/>
              </a:defRPr>
            </a:defPPr>
          </a:lstStyle>
          <a:p>
            <a:pPr>
              <a:defRPr sz="1650" b="0">
                <a:solidFill>
                  <a:srgbClr val="20333D"/>
                </a:solidFill>
                <a:latin typeface="DejaVu Sans"/>
                <a:ea typeface="DejaVu Sans"/>
                <a:cs typeface="DejaVu Sans"/>
              </a:defRPr>
            </a:pPr>
            <a:r>
              <a:rPr sz="1650" b="0">
                <a:solidFill>
                  <a:srgbClr val="20333D"/>
                </a:solidFill>
                <a:latin typeface="DejaVu Sans"/>
                <a:ea typeface="DejaVu Sans"/>
                <a:cs typeface="DejaVu Sans"/>
              </a:rPr>
              <a:t>Marine and port infrastructure</a:t>
            </a:r>
          </a:p>
        </p:txBody>
      </p:sp>
      <p:sp>
        <p:nvSpPr>
          <p:cNvPr id="8" name="Rectangle 7">
            <a:extLst>
              <a:ext uri="{FF2B5EF4-FFF2-40B4-BE49-F238E27FC236}">
                <a16:creationId xmlns:a16="http://schemas.microsoft.com/office/drawing/2014/main" id="{3BABF157-C5A9-4D1B-BB33-2DB8E24E473E}"/>
              </a:ext>
            </a:extLst>
          </p:cNvPr>
          <p:cNvSpPr>
            <a:spLocks noGrp="1"/>
          </p:cNvSpPr>
          <p:nvPr/>
        </p:nvSpPr>
        <p:spPr>
          <a:xfrm>
            <a:off x="609600" y="3267075"/>
            <a:ext cx="3143250" cy="342900"/>
          </a:xfrm>
          <a:prstGeom prst="rect">
            <a:avLst/>
          </a:prstGeom>
          <a:noFill/>
          <a:ln w="0">
            <a:noFill/>
          </a:ln>
        </p:spPr>
        <p:txBody>
          <a:bodyPr/>
          <a:lstStyle>
            <a:defPPr>
              <a:defRPr sz="1875" b="1">
                <a:solidFill>
                  <a:srgbClr val="007F83"/>
                </a:solidFill>
                <a:latin typeface="DejaVu Sans"/>
                <a:ea typeface="DejaVu Sans"/>
                <a:cs typeface="DejaVu Sans"/>
              </a:defRPr>
            </a:defPPr>
          </a:lstStyle>
          <a:p>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Airports</a:t>
            </a:r>
          </a:p>
        </p:txBody>
      </p:sp>
      <p:sp>
        <p:nvSpPr>
          <p:cNvPr id="9" name="Rectangle 8">
            <a:extLst>
              <a:ext uri="{FF2B5EF4-FFF2-40B4-BE49-F238E27FC236}">
                <a16:creationId xmlns:a16="http://schemas.microsoft.com/office/drawing/2014/main" id="{6DCFF420-6BED-4CD1-A142-323889E7DBAA}"/>
              </a:ext>
            </a:extLst>
          </p:cNvPr>
          <p:cNvSpPr>
            <a:spLocks noGrp="1"/>
          </p:cNvSpPr>
          <p:nvPr/>
        </p:nvSpPr>
        <p:spPr>
          <a:xfrm>
            <a:off x="4038600" y="3267075"/>
            <a:ext cx="7543800" cy="400050"/>
          </a:xfrm>
          <a:prstGeom prst="rect">
            <a:avLst/>
          </a:prstGeom>
          <a:noFill/>
          <a:ln w="0">
            <a:noFill/>
          </a:ln>
        </p:spPr>
        <p:txBody>
          <a:bodyPr/>
          <a:lstStyle>
            <a:defPPr>
              <a:defRPr sz="1650" b="0">
                <a:solidFill>
                  <a:srgbClr val="20333D"/>
                </a:solidFill>
                <a:latin typeface="DejaVu Sans"/>
                <a:ea typeface="DejaVu Sans"/>
                <a:cs typeface="DejaVu Sans"/>
              </a:defRPr>
            </a:defPPr>
          </a:lstStyle>
          <a:p>
            <a:pPr>
              <a:defRPr sz="1650" b="0">
                <a:solidFill>
                  <a:srgbClr val="20333D"/>
                </a:solidFill>
                <a:latin typeface="DejaVu Sans"/>
                <a:ea typeface="DejaVu Sans"/>
                <a:cs typeface="DejaVu Sans"/>
              </a:defRPr>
            </a:pPr>
            <a:r>
              <a:rPr sz="1650" b="0">
                <a:solidFill>
                  <a:srgbClr val="20333D"/>
                </a:solidFill>
                <a:latin typeface="DejaVu Sans"/>
                <a:ea typeface="DejaVu Sans"/>
                <a:cs typeface="DejaVu Sans"/>
              </a:rPr>
              <a:t>Airport infrastructure opportunities</a:t>
            </a:r>
          </a:p>
        </p:txBody>
      </p:sp>
      <p:sp>
        <p:nvSpPr>
          <p:cNvPr id="10" name="Rectangle 9">
            <a:extLst>
              <a:ext uri="{FF2B5EF4-FFF2-40B4-BE49-F238E27FC236}">
                <a16:creationId xmlns:a16="http://schemas.microsoft.com/office/drawing/2014/main" id="{38AF55BD-7DB6-4CA5-BE10-7DD7E5AB1556}"/>
              </a:ext>
            </a:extLst>
          </p:cNvPr>
          <p:cNvSpPr>
            <a:spLocks noGrp="1"/>
          </p:cNvSpPr>
          <p:nvPr/>
        </p:nvSpPr>
        <p:spPr>
          <a:xfrm>
            <a:off x="609600" y="3857625"/>
            <a:ext cx="3143250" cy="342900"/>
          </a:xfrm>
          <a:prstGeom prst="rect">
            <a:avLst/>
          </a:prstGeom>
          <a:noFill/>
          <a:ln w="0">
            <a:noFill/>
          </a:ln>
        </p:spPr>
        <p:txBody>
          <a:bodyPr/>
          <a:lstStyle>
            <a:defPPr>
              <a:defRPr sz="1875" b="1">
                <a:solidFill>
                  <a:srgbClr val="007F83"/>
                </a:solidFill>
                <a:latin typeface="DejaVu Sans"/>
                <a:ea typeface="DejaVu Sans"/>
                <a:cs typeface="DejaVu Sans"/>
              </a:defRPr>
            </a:defPPr>
          </a:lstStyle>
          <a:p>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Sewage treatment</a:t>
            </a:r>
          </a:p>
        </p:txBody>
      </p:sp>
      <p:sp>
        <p:nvSpPr>
          <p:cNvPr id="11" name="Rectangle 10">
            <a:extLst>
              <a:ext uri="{FF2B5EF4-FFF2-40B4-BE49-F238E27FC236}">
                <a16:creationId xmlns:a16="http://schemas.microsoft.com/office/drawing/2014/main" id="{205AE75A-C697-49D7-B442-A2503A14FAA9}"/>
              </a:ext>
            </a:extLst>
          </p:cNvPr>
          <p:cNvSpPr>
            <a:spLocks noGrp="1"/>
          </p:cNvSpPr>
          <p:nvPr/>
        </p:nvSpPr>
        <p:spPr>
          <a:xfrm>
            <a:off x="4038600" y="3857625"/>
            <a:ext cx="7543800" cy="400050"/>
          </a:xfrm>
          <a:prstGeom prst="rect">
            <a:avLst/>
          </a:prstGeom>
          <a:noFill/>
          <a:ln w="0">
            <a:noFill/>
          </a:ln>
        </p:spPr>
        <p:txBody>
          <a:bodyPr/>
          <a:lstStyle>
            <a:defPPr>
              <a:defRPr sz="1650" b="0">
                <a:solidFill>
                  <a:srgbClr val="20333D"/>
                </a:solidFill>
                <a:latin typeface="DejaVu Sans"/>
                <a:ea typeface="DejaVu Sans"/>
                <a:cs typeface="DejaVu Sans"/>
              </a:defRPr>
            </a:defPPr>
          </a:lstStyle>
          <a:p>
            <a:pPr>
              <a:defRPr sz="1650" b="0">
                <a:solidFill>
                  <a:srgbClr val="20333D"/>
                </a:solidFill>
                <a:latin typeface="DejaVu Sans"/>
                <a:ea typeface="DejaVu Sans"/>
                <a:cs typeface="DejaVu Sans"/>
              </a:defRPr>
            </a:pPr>
            <a:r>
              <a:rPr sz="1650" b="0">
                <a:solidFill>
                  <a:srgbClr val="20333D"/>
                </a:solidFill>
                <a:latin typeface="DejaVu Sans"/>
                <a:ea typeface="DejaVu Sans"/>
                <a:cs typeface="DejaVu Sans"/>
              </a:rPr>
              <a:t>Treatment plants and associated infrastructure</a:t>
            </a:r>
          </a:p>
        </p:txBody>
      </p:sp>
      <p:sp>
        <p:nvSpPr>
          <p:cNvPr id="12" name="Rectangle 11">
            <a:extLst>
              <a:ext uri="{FF2B5EF4-FFF2-40B4-BE49-F238E27FC236}">
                <a16:creationId xmlns:a16="http://schemas.microsoft.com/office/drawing/2014/main" id="{85D21B64-032A-4B50-87CE-9072C5A13112}"/>
              </a:ext>
            </a:extLst>
          </p:cNvPr>
          <p:cNvSpPr>
            <a:spLocks noGrp="1"/>
          </p:cNvSpPr>
          <p:nvPr/>
        </p:nvSpPr>
        <p:spPr>
          <a:xfrm>
            <a:off x="609600" y="4448175"/>
            <a:ext cx="3143250" cy="342900"/>
          </a:xfrm>
          <a:prstGeom prst="rect">
            <a:avLst/>
          </a:prstGeom>
          <a:noFill/>
          <a:ln w="0">
            <a:noFill/>
          </a:ln>
        </p:spPr>
        <p:txBody>
          <a:bodyPr/>
          <a:lstStyle>
            <a:defPPr>
              <a:defRPr sz="1875" b="1">
                <a:solidFill>
                  <a:srgbClr val="007F83"/>
                </a:solidFill>
                <a:latin typeface="DejaVu Sans"/>
                <a:ea typeface="DejaVu Sans"/>
                <a:cs typeface="DejaVu Sans"/>
              </a:defRPr>
            </a:defPPr>
          </a:lstStyle>
          <a:p>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District cooling</a:t>
            </a:r>
          </a:p>
        </p:txBody>
      </p:sp>
      <p:sp>
        <p:nvSpPr>
          <p:cNvPr id="13" name="Rectangle 12">
            <a:extLst>
              <a:ext uri="{FF2B5EF4-FFF2-40B4-BE49-F238E27FC236}">
                <a16:creationId xmlns:a16="http://schemas.microsoft.com/office/drawing/2014/main" id="{169D1AED-D9D0-41A9-92C9-72A4262C73E0}"/>
              </a:ext>
            </a:extLst>
          </p:cNvPr>
          <p:cNvSpPr>
            <a:spLocks noGrp="1"/>
          </p:cNvSpPr>
          <p:nvPr/>
        </p:nvSpPr>
        <p:spPr>
          <a:xfrm>
            <a:off x="4038600" y="4448175"/>
            <a:ext cx="7543800" cy="400050"/>
          </a:xfrm>
          <a:prstGeom prst="rect">
            <a:avLst/>
          </a:prstGeom>
          <a:noFill/>
          <a:ln w="0">
            <a:noFill/>
          </a:ln>
        </p:spPr>
        <p:txBody>
          <a:bodyPr/>
          <a:lstStyle>
            <a:defPPr>
              <a:defRPr sz="1650" b="0">
                <a:solidFill>
                  <a:srgbClr val="20333D"/>
                </a:solidFill>
                <a:latin typeface="DejaVu Sans"/>
                <a:ea typeface="DejaVu Sans"/>
                <a:cs typeface="DejaVu Sans"/>
              </a:defRPr>
            </a:defPPr>
          </a:lstStyle>
          <a:p>
            <a:pPr>
              <a:defRPr sz="1650" b="0">
                <a:solidFill>
                  <a:srgbClr val="20333D"/>
                </a:solidFill>
                <a:latin typeface="DejaVu Sans"/>
                <a:ea typeface="DejaVu Sans"/>
                <a:cs typeface="DejaVu Sans"/>
              </a:defRPr>
            </a:pPr>
            <a:r>
              <a:rPr sz="1650" b="0">
                <a:solidFill>
                  <a:srgbClr val="20333D"/>
                </a:solidFill>
                <a:latin typeface="DejaVu Sans"/>
                <a:ea typeface="DejaVu Sans"/>
                <a:cs typeface="DejaVu Sans"/>
              </a:rPr>
              <a:t>Cooling plants and distribution networks</a:t>
            </a:r>
          </a:p>
        </p:txBody>
      </p:sp>
      <p:sp>
        <p:nvSpPr>
          <p:cNvPr id="14" name="Rectangle 13">
            <a:extLst>
              <a:ext uri="{FF2B5EF4-FFF2-40B4-BE49-F238E27FC236}">
                <a16:creationId xmlns:a16="http://schemas.microsoft.com/office/drawing/2014/main" id="{96976752-A0A9-429D-9579-6A0F0E35F0BF}"/>
              </a:ext>
            </a:extLst>
          </p:cNvPr>
          <p:cNvSpPr>
            <a:spLocks noGrp="1"/>
          </p:cNvSpPr>
          <p:nvPr/>
        </p:nvSpPr>
        <p:spPr>
          <a:xfrm>
            <a:off x="609600" y="5038725"/>
            <a:ext cx="3143250" cy="342900"/>
          </a:xfrm>
          <a:prstGeom prst="rect">
            <a:avLst/>
          </a:prstGeom>
          <a:noFill/>
          <a:ln w="0">
            <a:noFill/>
          </a:ln>
        </p:spPr>
        <p:txBody>
          <a:bodyPr/>
          <a:lstStyle>
            <a:defPPr>
              <a:defRPr sz="1875" b="1">
                <a:solidFill>
                  <a:srgbClr val="007F83"/>
                </a:solidFill>
                <a:latin typeface="DejaVu Sans"/>
                <a:ea typeface="DejaVu Sans"/>
                <a:cs typeface="DejaVu Sans"/>
              </a:defRPr>
            </a:defPPr>
          </a:lstStyle>
          <a:p>
            <a:pPr>
              <a:defRPr sz="1875" b="1">
                <a:solidFill>
                  <a:srgbClr val="007F83"/>
                </a:solidFill>
                <a:latin typeface="DejaVu Sans"/>
                <a:ea typeface="DejaVu Sans"/>
                <a:cs typeface="DejaVu Sans"/>
              </a:defRPr>
            </a:pPr>
            <a:r>
              <a:rPr sz="1875" b="1">
                <a:solidFill>
                  <a:srgbClr val="007F83"/>
                </a:solidFill>
                <a:latin typeface="DejaVu Sans"/>
                <a:ea typeface="DejaVu Sans"/>
                <a:cs typeface="DejaVu Sans"/>
              </a:rPr>
              <a:t>Desalination</a:t>
            </a:r>
          </a:p>
        </p:txBody>
      </p:sp>
      <p:sp>
        <p:nvSpPr>
          <p:cNvPr id="15" name="Rectangle 14">
            <a:extLst>
              <a:ext uri="{FF2B5EF4-FFF2-40B4-BE49-F238E27FC236}">
                <a16:creationId xmlns:a16="http://schemas.microsoft.com/office/drawing/2014/main" id="{E014FAB1-1B72-4FCE-8791-DB16721C4EED}"/>
              </a:ext>
            </a:extLst>
          </p:cNvPr>
          <p:cNvSpPr>
            <a:spLocks noGrp="1"/>
          </p:cNvSpPr>
          <p:nvPr/>
        </p:nvSpPr>
        <p:spPr>
          <a:xfrm>
            <a:off x="4038600" y="5038725"/>
            <a:ext cx="7543800" cy="400050"/>
          </a:xfrm>
          <a:prstGeom prst="rect">
            <a:avLst/>
          </a:prstGeom>
          <a:noFill/>
          <a:ln w="0">
            <a:noFill/>
          </a:ln>
        </p:spPr>
        <p:txBody>
          <a:bodyPr/>
          <a:lstStyle>
            <a:defPPr>
              <a:defRPr sz="1650" b="0">
                <a:solidFill>
                  <a:srgbClr val="20333D"/>
                </a:solidFill>
                <a:latin typeface="DejaVu Sans"/>
                <a:ea typeface="DejaVu Sans"/>
                <a:cs typeface="DejaVu Sans"/>
              </a:defRPr>
            </a:defPPr>
          </a:lstStyle>
          <a:p>
            <a:pPr>
              <a:defRPr sz="1650" b="0">
                <a:solidFill>
                  <a:srgbClr val="20333D"/>
                </a:solidFill>
                <a:latin typeface="DejaVu Sans"/>
                <a:ea typeface="DejaVu Sans"/>
                <a:cs typeface="DejaVu Sans"/>
              </a:defRPr>
            </a:pPr>
            <a:r>
              <a:rPr sz="1650" b="0">
                <a:solidFill>
                  <a:srgbClr val="20333D"/>
                </a:solidFill>
                <a:latin typeface="DejaVu Sans"/>
                <a:ea typeface="DejaVu Sans"/>
                <a:cs typeface="DejaVu Sans"/>
              </a:rPr>
              <a:t>Desalination plants and associated infrastructure</a:t>
            </a:r>
          </a:p>
        </p:txBody>
      </p:sp>
      <p:sp>
        <p:nvSpPr>
          <p:cNvPr id="16" name="Rectangle 15">
            <a:extLst>
              <a:ext uri="{FF2B5EF4-FFF2-40B4-BE49-F238E27FC236}">
                <a16:creationId xmlns:a16="http://schemas.microsoft.com/office/drawing/2014/main" id="{3CD9CD52-8BDA-4D8D-B7D7-A3898A577971}"/>
              </a:ext>
            </a:extLst>
          </p:cNvPr>
          <p:cNvSpPr>
            <a:spLocks noGrp="1"/>
          </p:cNvSpPr>
          <p:nvPr/>
        </p:nvSpPr>
        <p:spPr>
          <a:xfrm>
            <a:off x="609600" y="5772150"/>
            <a:ext cx="4762500" cy="295275"/>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Existing pipeline supports the direction</a:t>
            </a:r>
          </a:p>
        </p:txBody>
      </p:sp>
      <p:sp>
        <p:nvSpPr>
          <p:cNvPr id="17" name="Rectangle 16">
            <a:extLst>
              <a:ext uri="{FF2B5EF4-FFF2-40B4-BE49-F238E27FC236}">
                <a16:creationId xmlns:a16="http://schemas.microsoft.com/office/drawing/2014/main" id="{E1A7DDF3-0D36-44B8-BF65-5C6340678F10}"/>
              </a:ext>
            </a:extLst>
          </p:cNvPr>
          <p:cNvSpPr>
            <a:spLocks noGrp="1"/>
          </p:cNvSpPr>
          <p:nvPr/>
        </p:nvSpPr>
        <p:spPr>
          <a:xfrm>
            <a:off x="609600" y="6067425"/>
            <a:ext cx="10972800" cy="276225"/>
          </a:xfrm>
          <a:prstGeom prst="rect">
            <a:avLst/>
          </a:prstGeom>
          <a:noFill/>
          <a:ln w="0">
            <a:noFill/>
          </a:ln>
        </p:spPr>
        <p:txBody>
          <a:bodyPr/>
          <a:lstStyle>
            <a:defPPr>
              <a:defRPr sz="1425" b="0">
                <a:solidFill>
                  <a:srgbClr val="60727B"/>
                </a:solidFill>
                <a:latin typeface="DejaVu Sans"/>
                <a:ea typeface="DejaVu Sans"/>
                <a:cs typeface="DejaVu Sans"/>
              </a:defRPr>
            </a:defPPr>
          </a:lstStyle>
          <a:p>
            <a:pPr>
              <a:defRPr sz="1425" b="0">
                <a:solidFill>
                  <a:srgbClr val="60727B"/>
                </a:solidFill>
                <a:latin typeface="DejaVu Sans"/>
                <a:ea typeface="DejaVu Sans"/>
                <a:cs typeface="DejaVu Sans"/>
              </a:defRPr>
            </a:pPr>
            <a:r>
              <a:rPr sz="1425" b="0">
                <a:solidFill>
                  <a:srgbClr val="60727B"/>
                </a:solidFill>
                <a:latin typeface="DejaVu Sans"/>
                <a:ea typeface="DejaVu Sans"/>
                <a:cs typeface="DejaVu Sans"/>
              </a:rPr>
              <a:t>Hatta and Warsan STPs, plus Dubai South chilled-water networks</a:t>
            </a:r>
          </a:p>
        </p:txBody>
      </p:sp>
    </p:spTree>
    <p:extLst>
      <p:ext uri="{BB962C8B-B14F-4D97-AF65-F5344CB8AC3E}">
        <p14:creationId xmlns:p14="http://schemas.microsoft.com/office/powerpoint/2010/main" val="382797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BD436B2-0E13-4EA0-A640-08BFF5D04A84}"/>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62E42F4C-9907-4720-80C8-79A5B3398D94}"/>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Certifications &amp; awards since inception</a:t>
            </a:r>
          </a:p>
        </p:txBody>
      </p:sp>
      <p:sp>
        <p:nvSpPr>
          <p:cNvPr id="3" name="Rectangle 2">
            <a:extLst>
              <a:ext uri="{FF2B5EF4-FFF2-40B4-BE49-F238E27FC236}">
                <a16:creationId xmlns:a16="http://schemas.microsoft.com/office/drawing/2014/main" id="{2D66FB35-3C2E-4CE5-85E6-B50B3127EC2A}"/>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Recognition of project delivery, safety performance and equipment management</a:t>
            </a:r>
          </a:p>
        </p:txBody>
      </p:sp>
      <p:sp>
        <p:nvSpPr>
          <p:cNvPr id="4" name="Rectangle 3">
            <a:extLst>
              <a:ext uri="{FF2B5EF4-FFF2-40B4-BE49-F238E27FC236}">
                <a16:creationId xmlns:a16="http://schemas.microsoft.com/office/drawing/2014/main" id="{B7493E40-95C7-4C44-A845-F7EE80738F77}"/>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CC6792A3-4280-4C88-9BCE-82EFB2A658D2}"/>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06</a:t>
            </a:r>
          </a:p>
        </p:txBody>
      </p:sp>
      <p:sp>
        <p:nvSpPr>
          <p:cNvPr id="6" name="Rectangle 5">
            <a:extLst>
              <a:ext uri="{FF2B5EF4-FFF2-40B4-BE49-F238E27FC236}">
                <a16:creationId xmlns:a16="http://schemas.microsoft.com/office/drawing/2014/main" id="{22C3E17C-B696-464F-8CF3-D1A9FA18298E}"/>
              </a:ext>
            </a:extLst>
          </p:cNvPr>
          <p:cNvSpPr>
            <a:spLocks noGrp="1"/>
          </p:cNvSpPr>
          <p:nvPr/>
        </p:nvSpPr>
        <p:spPr>
          <a:xfrm>
            <a:off x="609600" y="2638425"/>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Guinness World Records</a:t>
            </a:r>
          </a:p>
        </p:txBody>
      </p:sp>
      <p:sp>
        <p:nvSpPr>
          <p:cNvPr id="7" name="Rectangle 6">
            <a:extLst>
              <a:ext uri="{FF2B5EF4-FFF2-40B4-BE49-F238E27FC236}">
                <a16:creationId xmlns:a16="http://schemas.microsoft.com/office/drawing/2014/main" id="{F6CD28B2-3BE2-497F-BEB1-BED9D70B52CA}"/>
              </a:ext>
            </a:extLst>
          </p:cNvPr>
          <p:cNvSpPr>
            <a:spLocks noGrp="1"/>
          </p:cNvSpPr>
          <p:nvPr/>
        </p:nvSpPr>
        <p:spPr>
          <a:xfrm>
            <a:off x="4162425" y="2638425"/>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Longest line of solar-powered streetlights: 2,248 lights</a:t>
            </a:r>
          </a:p>
        </p:txBody>
      </p:sp>
      <p:sp>
        <p:nvSpPr>
          <p:cNvPr id="8" name="Rectangle 7">
            <a:extLst>
              <a:ext uri="{FF2B5EF4-FFF2-40B4-BE49-F238E27FC236}">
                <a16:creationId xmlns:a16="http://schemas.microsoft.com/office/drawing/2014/main" id="{EA43A3D0-28F2-4447-93F2-6A5C623B7A9B}"/>
              </a:ext>
            </a:extLst>
          </p:cNvPr>
          <p:cNvSpPr>
            <a:spLocks noGrp="1"/>
          </p:cNvSpPr>
          <p:nvPr/>
        </p:nvSpPr>
        <p:spPr>
          <a:xfrm>
            <a:off x="4162425" y="2914650"/>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Abu Dhabi–Al Ain, 30 December 2025</a:t>
            </a:r>
          </a:p>
        </p:txBody>
      </p:sp>
      <p:sp>
        <p:nvSpPr>
          <p:cNvPr id="9" name="Rectangle 8">
            <a:extLst>
              <a:ext uri="{FF2B5EF4-FFF2-40B4-BE49-F238E27FC236}">
                <a16:creationId xmlns:a16="http://schemas.microsoft.com/office/drawing/2014/main" id="{78E9554C-EE21-4A95-9AAF-72CAE90C5B51}"/>
              </a:ext>
            </a:extLst>
          </p:cNvPr>
          <p:cNvSpPr>
            <a:spLocks noGrp="1"/>
          </p:cNvSpPr>
          <p:nvPr/>
        </p:nvSpPr>
        <p:spPr>
          <a:xfrm>
            <a:off x="609600" y="3219450"/>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Big Project Awards</a:t>
            </a:r>
          </a:p>
        </p:txBody>
      </p:sp>
      <p:sp>
        <p:nvSpPr>
          <p:cNvPr id="10" name="Rectangle 9">
            <a:extLst>
              <a:ext uri="{FF2B5EF4-FFF2-40B4-BE49-F238E27FC236}">
                <a16:creationId xmlns:a16="http://schemas.microsoft.com/office/drawing/2014/main" id="{015C81FF-1B4D-4ABB-BD61-39ABED6BE97F}"/>
              </a:ext>
            </a:extLst>
          </p:cNvPr>
          <p:cNvSpPr>
            <a:spLocks noGrp="1"/>
          </p:cNvSpPr>
          <p:nvPr/>
        </p:nvSpPr>
        <p:spPr>
          <a:xfrm>
            <a:off x="4162425" y="3219450"/>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Project of the Year, Infrastructure &amp; Transport</a:t>
            </a:r>
          </a:p>
        </p:txBody>
      </p:sp>
      <p:sp>
        <p:nvSpPr>
          <p:cNvPr id="11" name="Rectangle 10">
            <a:extLst>
              <a:ext uri="{FF2B5EF4-FFF2-40B4-BE49-F238E27FC236}">
                <a16:creationId xmlns:a16="http://schemas.microsoft.com/office/drawing/2014/main" id="{06892ED5-5BA2-4DB4-84FC-71D68F581CAD}"/>
              </a:ext>
            </a:extLst>
          </p:cNvPr>
          <p:cNvSpPr>
            <a:spLocks noGrp="1"/>
          </p:cNvSpPr>
          <p:nvPr/>
        </p:nvSpPr>
        <p:spPr>
          <a:xfrm>
            <a:off x="4162425" y="3495675"/>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Al Faya Razeen</a:t>
            </a:r>
          </a:p>
        </p:txBody>
      </p:sp>
      <p:sp>
        <p:nvSpPr>
          <p:cNvPr id="12" name="Rectangle 11">
            <a:extLst>
              <a:ext uri="{FF2B5EF4-FFF2-40B4-BE49-F238E27FC236}">
                <a16:creationId xmlns:a16="http://schemas.microsoft.com/office/drawing/2014/main" id="{A741AD31-D766-4AC7-96AE-9557F6908B96}"/>
              </a:ext>
            </a:extLst>
          </p:cNvPr>
          <p:cNvSpPr>
            <a:spLocks noGrp="1"/>
          </p:cNvSpPr>
          <p:nvPr/>
        </p:nvSpPr>
        <p:spPr>
          <a:xfrm>
            <a:off x="609600" y="3800475"/>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Safety excellence</a:t>
            </a:r>
          </a:p>
        </p:txBody>
      </p:sp>
      <p:sp>
        <p:nvSpPr>
          <p:cNvPr id="13" name="Rectangle 12">
            <a:extLst>
              <a:ext uri="{FF2B5EF4-FFF2-40B4-BE49-F238E27FC236}">
                <a16:creationId xmlns:a16="http://schemas.microsoft.com/office/drawing/2014/main" id="{8F124D2F-B845-4D46-AE95-D6E6E647FD4C}"/>
              </a:ext>
            </a:extLst>
          </p:cNvPr>
          <p:cNvSpPr>
            <a:spLocks noGrp="1"/>
          </p:cNvSpPr>
          <p:nvPr/>
        </p:nvSpPr>
        <p:spPr>
          <a:xfrm>
            <a:off x="4162425" y="3800475"/>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One million safe man-hours without lost time injury</a:t>
            </a:r>
          </a:p>
        </p:txBody>
      </p:sp>
      <p:sp>
        <p:nvSpPr>
          <p:cNvPr id="14" name="Rectangle 13">
            <a:extLst>
              <a:ext uri="{FF2B5EF4-FFF2-40B4-BE49-F238E27FC236}">
                <a16:creationId xmlns:a16="http://schemas.microsoft.com/office/drawing/2014/main" id="{E9FBF842-039F-414A-A252-2B9D7F414844}"/>
              </a:ext>
            </a:extLst>
          </p:cNvPr>
          <p:cNvSpPr>
            <a:spLocks noGrp="1"/>
          </p:cNvSpPr>
          <p:nvPr/>
        </p:nvSpPr>
        <p:spPr>
          <a:xfrm>
            <a:off x="4162425" y="4076700"/>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Eden Hills, H&amp;H / Parsons recognition</a:t>
            </a:r>
          </a:p>
        </p:txBody>
      </p:sp>
      <p:sp>
        <p:nvSpPr>
          <p:cNvPr id="15" name="Rectangle 14">
            <a:extLst>
              <a:ext uri="{FF2B5EF4-FFF2-40B4-BE49-F238E27FC236}">
                <a16:creationId xmlns:a16="http://schemas.microsoft.com/office/drawing/2014/main" id="{7CCCFA7C-B3B8-4F79-9197-107B7AE27E6E}"/>
              </a:ext>
            </a:extLst>
          </p:cNvPr>
          <p:cNvSpPr>
            <a:spLocks noGrp="1"/>
          </p:cNvSpPr>
          <p:nvPr/>
        </p:nvSpPr>
        <p:spPr>
          <a:xfrm>
            <a:off x="609600" y="4381500"/>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Galadari / JCB</a:t>
            </a:r>
          </a:p>
        </p:txBody>
      </p:sp>
      <p:sp>
        <p:nvSpPr>
          <p:cNvPr id="16" name="Rectangle 15">
            <a:extLst>
              <a:ext uri="{FF2B5EF4-FFF2-40B4-BE49-F238E27FC236}">
                <a16:creationId xmlns:a16="http://schemas.microsoft.com/office/drawing/2014/main" id="{6BA12034-8134-431A-AE40-4F7EDD3EE51D}"/>
              </a:ext>
            </a:extLst>
          </p:cNvPr>
          <p:cNvSpPr>
            <a:spLocks noGrp="1"/>
          </p:cNvSpPr>
          <p:nvPr/>
        </p:nvSpPr>
        <p:spPr>
          <a:xfrm>
            <a:off x="4162425" y="4381500"/>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Award of Best Machines’ Utilization</a:t>
            </a:r>
          </a:p>
        </p:txBody>
      </p:sp>
      <p:sp>
        <p:nvSpPr>
          <p:cNvPr id="17" name="Rectangle 16">
            <a:extLst>
              <a:ext uri="{FF2B5EF4-FFF2-40B4-BE49-F238E27FC236}">
                <a16:creationId xmlns:a16="http://schemas.microsoft.com/office/drawing/2014/main" id="{AC964D25-BE07-4347-9513-3E93DEDD46F4}"/>
              </a:ext>
            </a:extLst>
          </p:cNvPr>
          <p:cNvSpPr>
            <a:spLocks noGrp="1"/>
          </p:cNvSpPr>
          <p:nvPr/>
        </p:nvSpPr>
        <p:spPr>
          <a:xfrm>
            <a:off x="4162425" y="4657725"/>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Presented to Innovo Infra and Rayan El Eid, MD</a:t>
            </a:r>
          </a:p>
        </p:txBody>
      </p:sp>
      <p:sp>
        <p:nvSpPr>
          <p:cNvPr id="18" name="Rectangle 17">
            <a:extLst>
              <a:ext uri="{FF2B5EF4-FFF2-40B4-BE49-F238E27FC236}">
                <a16:creationId xmlns:a16="http://schemas.microsoft.com/office/drawing/2014/main" id="{1E10FF78-70C1-46A0-8745-72EAD4032AB9}"/>
              </a:ext>
            </a:extLst>
          </p:cNvPr>
          <p:cNvSpPr>
            <a:spLocks noGrp="1"/>
          </p:cNvSpPr>
          <p:nvPr/>
        </p:nvSpPr>
        <p:spPr>
          <a:xfrm>
            <a:off x="609600" y="4962525"/>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JCB</a:t>
            </a:r>
          </a:p>
        </p:txBody>
      </p:sp>
      <p:sp>
        <p:nvSpPr>
          <p:cNvPr id="19" name="Rectangle 18">
            <a:extLst>
              <a:ext uri="{FF2B5EF4-FFF2-40B4-BE49-F238E27FC236}">
                <a16:creationId xmlns:a16="http://schemas.microsoft.com/office/drawing/2014/main" id="{18CD5737-9CF7-4089-BE95-8CBC57C3CB7E}"/>
              </a:ext>
            </a:extLst>
          </p:cNvPr>
          <p:cNvSpPr>
            <a:spLocks noGrp="1"/>
          </p:cNvSpPr>
          <p:nvPr/>
        </p:nvSpPr>
        <p:spPr>
          <a:xfrm>
            <a:off x="4162425" y="4962525"/>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Customer of the Year 2025</a:t>
            </a:r>
          </a:p>
        </p:txBody>
      </p:sp>
      <p:sp>
        <p:nvSpPr>
          <p:cNvPr id="20" name="Rectangle 19">
            <a:extLst>
              <a:ext uri="{FF2B5EF4-FFF2-40B4-BE49-F238E27FC236}">
                <a16:creationId xmlns:a16="http://schemas.microsoft.com/office/drawing/2014/main" id="{F678A29B-45DE-436E-ACBC-7296E91348E2}"/>
              </a:ext>
            </a:extLst>
          </p:cNvPr>
          <p:cNvSpPr>
            <a:spLocks noGrp="1"/>
          </p:cNvSpPr>
          <p:nvPr/>
        </p:nvSpPr>
        <p:spPr>
          <a:xfrm>
            <a:off x="4162425" y="5238750"/>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Innovo Road Infrastructure and Marine Works</a:t>
            </a:r>
          </a:p>
        </p:txBody>
      </p:sp>
      <p:sp>
        <p:nvSpPr>
          <p:cNvPr id="21" name="Rectangle 20">
            <a:extLst>
              <a:ext uri="{FF2B5EF4-FFF2-40B4-BE49-F238E27FC236}">
                <a16:creationId xmlns:a16="http://schemas.microsoft.com/office/drawing/2014/main" id="{07C9FAE6-53C5-4EC8-BFFB-73AF8A8534A0}"/>
              </a:ext>
            </a:extLst>
          </p:cNvPr>
          <p:cNvSpPr>
            <a:spLocks noGrp="1"/>
          </p:cNvSpPr>
          <p:nvPr/>
        </p:nvSpPr>
        <p:spPr>
          <a:xfrm>
            <a:off x="609600" y="5543550"/>
            <a:ext cx="3429000" cy="352425"/>
          </a:xfrm>
          <a:prstGeom prst="rect">
            <a:avLst/>
          </a:prstGeom>
          <a:noFill/>
          <a:ln w="0">
            <a:noFill/>
          </a:ln>
        </p:spPr>
        <p:txBody>
          <a:bodyPr/>
          <a:lstStyle>
            <a:defPPr>
              <a:defRPr sz="1650" b="1">
                <a:solidFill>
                  <a:srgbClr val="007F83"/>
                </a:solidFill>
                <a:latin typeface="DejaVu Sans"/>
                <a:ea typeface="DejaVu Sans"/>
                <a:cs typeface="DejaVu Sans"/>
              </a:defRPr>
            </a:defPPr>
          </a:lstStyle>
          <a:p>
            <a:pPr>
              <a:defRPr sz="1650" b="1">
                <a:solidFill>
                  <a:srgbClr val="007F83"/>
                </a:solidFill>
                <a:latin typeface="DejaVu Sans"/>
                <a:ea typeface="DejaVu Sans"/>
                <a:cs typeface="DejaVu Sans"/>
              </a:defRPr>
            </a:pPr>
            <a:r>
              <a:rPr sz="1650" b="1">
                <a:solidFill>
                  <a:srgbClr val="007F83"/>
                </a:solidFill>
                <a:latin typeface="DejaVu Sans"/>
                <a:ea typeface="DejaVu Sans"/>
                <a:cs typeface="DejaVu Sans"/>
              </a:rPr>
              <a:t>Abu Dhabi DMT</a:t>
            </a:r>
          </a:p>
        </p:txBody>
      </p:sp>
      <p:sp>
        <p:nvSpPr>
          <p:cNvPr id="22" name="Rectangle 21">
            <a:extLst>
              <a:ext uri="{FF2B5EF4-FFF2-40B4-BE49-F238E27FC236}">
                <a16:creationId xmlns:a16="http://schemas.microsoft.com/office/drawing/2014/main" id="{CBDC3238-A66D-4076-8DCA-B91CFA59C089}"/>
              </a:ext>
            </a:extLst>
          </p:cNvPr>
          <p:cNvSpPr>
            <a:spLocks noGrp="1"/>
          </p:cNvSpPr>
          <p:nvPr/>
        </p:nvSpPr>
        <p:spPr>
          <a:xfrm>
            <a:off x="4162425" y="5543550"/>
            <a:ext cx="7419975" cy="304800"/>
          </a:xfrm>
          <a:prstGeom prst="rect">
            <a:avLst/>
          </a:prstGeom>
          <a:noFill/>
          <a:ln w="0">
            <a:noFill/>
          </a:ln>
        </p:spPr>
        <p:txBody>
          <a:bodyPr/>
          <a:lstStyle>
            <a:defPPr>
              <a:defRPr sz="1575" b="1">
                <a:solidFill>
                  <a:srgbClr val="20333D"/>
                </a:solidFill>
                <a:latin typeface="DejaVu Sans"/>
                <a:ea typeface="DejaVu Sans"/>
                <a:cs typeface="DejaVu Sans"/>
              </a:defRPr>
            </a:defPPr>
          </a:lstStyle>
          <a:p>
            <a:pPr>
              <a:defRPr sz="1575" b="1">
                <a:solidFill>
                  <a:srgbClr val="20333D"/>
                </a:solidFill>
                <a:latin typeface="DejaVu Sans"/>
                <a:ea typeface="DejaVu Sans"/>
                <a:cs typeface="DejaVu Sans"/>
              </a:defRPr>
            </a:pPr>
            <a:r>
              <a:rPr sz="1575" b="1">
                <a:solidFill>
                  <a:srgbClr val="20333D"/>
                </a:solidFill>
                <a:latin typeface="DejaVu Sans"/>
                <a:ea typeface="DejaVu Sans"/>
                <a:cs typeface="DejaVu Sans"/>
              </a:rPr>
              <a:t>Special Classification</a:t>
            </a:r>
          </a:p>
        </p:txBody>
      </p:sp>
      <p:sp>
        <p:nvSpPr>
          <p:cNvPr id="23" name="Rectangle 22">
            <a:extLst>
              <a:ext uri="{FF2B5EF4-FFF2-40B4-BE49-F238E27FC236}">
                <a16:creationId xmlns:a16="http://schemas.microsoft.com/office/drawing/2014/main" id="{8EE353F8-204C-4877-AD17-23DF570D2F88}"/>
              </a:ext>
            </a:extLst>
          </p:cNvPr>
          <p:cNvSpPr>
            <a:spLocks noGrp="1"/>
          </p:cNvSpPr>
          <p:nvPr/>
        </p:nvSpPr>
        <p:spPr>
          <a:xfrm>
            <a:off x="4162425" y="5819775"/>
            <a:ext cx="7419975" cy="285750"/>
          </a:xfrm>
          <a:prstGeom prst="rect">
            <a:avLst/>
          </a:prstGeom>
          <a:noFill/>
          <a:ln w="0">
            <a:noFill/>
          </a:ln>
        </p:spPr>
        <p:txBody>
          <a:bodyPr/>
          <a:lstStyle>
            <a:defPPr>
              <a:defRPr sz="1350" b="0">
                <a:solidFill>
                  <a:srgbClr val="60727B"/>
                </a:solidFill>
                <a:latin typeface="DejaVu Sans"/>
                <a:ea typeface="DejaVu Sans"/>
                <a:cs typeface="DejaVu Sans"/>
              </a:defRPr>
            </a:defPPr>
          </a:lstStyle>
          <a:p>
            <a:pPr>
              <a:defRPr sz="1350" b="0">
                <a:solidFill>
                  <a:srgbClr val="60727B"/>
                </a:solidFill>
                <a:latin typeface="DejaVu Sans"/>
                <a:ea typeface="DejaVu Sans"/>
                <a:cs typeface="DejaVu Sans"/>
              </a:defRPr>
            </a:pPr>
            <a:r>
              <a:rPr sz="1350" b="0">
                <a:solidFill>
                  <a:srgbClr val="60727B"/>
                </a:solidFill>
                <a:latin typeface="DejaVu Sans"/>
                <a:ea typeface="DejaVu Sans"/>
                <a:cs typeface="DejaVu Sans"/>
              </a:rPr>
              <a:t>Main Roads &amp; Streets Contracting</a:t>
            </a:r>
          </a:p>
        </p:txBody>
      </p:sp>
    </p:spTree>
    <p:extLst>
      <p:ext uri="{BB962C8B-B14F-4D97-AF65-F5344CB8AC3E}">
        <p14:creationId xmlns:p14="http://schemas.microsoft.com/office/powerpoint/2010/main" val="1651187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400432F-9BA2-4927-A4D1-139CA2A59C3B}"/>
              </a:ext>
            </a:extLst>
          </p:cNvPr>
          <p:cNvSpPr>
            <a:spLocks noGrp="1"/>
          </p:cNvSpPr>
          <p:nvPr/>
        </p:nvSpPr>
        <p:spPr>
          <a:xfrm>
            <a:off x="609600" y="333375"/>
            <a:ext cx="7239000" cy="266700"/>
          </a:xfrm>
          <a:prstGeom prst="rect">
            <a:avLst/>
          </a:prstGeom>
          <a:noFill/>
          <a:ln w="0">
            <a:noFill/>
          </a:ln>
        </p:spPr>
        <p:txBody>
          <a:bodyPr/>
          <a:lstStyle>
            <a:defPPr>
              <a:defRPr sz="1350" b="1">
                <a:solidFill>
                  <a:srgbClr val="007F83"/>
                </a:solidFill>
                <a:latin typeface="DejaVu Sans"/>
                <a:ea typeface="DejaVu Sans"/>
                <a:cs typeface="DejaVu Sans"/>
              </a:defRPr>
            </a:defPPr>
          </a:lstStyle>
          <a:p>
            <a:pPr>
              <a:defRPr sz="1350" b="1">
                <a:solidFill>
                  <a:srgbClr val="007F83"/>
                </a:solidFill>
                <a:latin typeface="DejaVu Sans"/>
                <a:ea typeface="DejaVu Sans"/>
                <a:cs typeface="DejaVu Sans"/>
              </a:defRPr>
            </a:pPr>
            <a:r>
              <a:rPr sz="1350" b="1">
                <a:solidFill>
                  <a:srgbClr val="007F83"/>
                </a:solidFill>
                <a:latin typeface="DejaVu Sans"/>
                <a:ea typeface="DejaVu Sans"/>
                <a:cs typeface="DejaVu Sans"/>
              </a:rPr>
              <a:t>INNOVO INFRA</a:t>
            </a:r>
          </a:p>
        </p:txBody>
      </p:sp>
      <p:sp>
        <p:nvSpPr>
          <p:cNvPr id="2" name="Rectangle 1">
            <a:extLst>
              <a:ext uri="{FF2B5EF4-FFF2-40B4-BE49-F238E27FC236}">
                <a16:creationId xmlns:a16="http://schemas.microsoft.com/office/drawing/2014/main" id="{8C42BC18-2B5C-487F-9836-DE85ACCF5FF3}"/>
              </a:ext>
            </a:extLst>
          </p:cNvPr>
          <p:cNvSpPr>
            <a:spLocks noGrp="1"/>
          </p:cNvSpPr>
          <p:nvPr/>
        </p:nvSpPr>
        <p:spPr>
          <a:xfrm>
            <a:off x="609600" y="895350"/>
            <a:ext cx="10972800" cy="857250"/>
          </a:xfrm>
          <a:prstGeom prst="rect">
            <a:avLst/>
          </a:prstGeom>
          <a:noFill/>
          <a:ln w="0">
            <a:noFill/>
          </a:ln>
        </p:spPr>
        <p:txBody>
          <a:bodyPr/>
          <a:lstStyle>
            <a:defPPr>
              <a:defRPr sz="3300" b="1">
                <a:solidFill>
                  <a:srgbClr val="20333D"/>
                </a:solidFill>
                <a:latin typeface="DejaVu Sans"/>
                <a:ea typeface="DejaVu Sans"/>
                <a:cs typeface="DejaVu Sans"/>
              </a:defRPr>
            </a:defPPr>
          </a:lstStyle>
          <a:p>
            <a:pPr>
              <a:defRPr sz="3300" b="1">
                <a:solidFill>
                  <a:srgbClr val="20333D"/>
                </a:solidFill>
                <a:latin typeface="DejaVu Sans"/>
                <a:ea typeface="DejaVu Sans"/>
                <a:cs typeface="DejaVu Sans"/>
              </a:defRPr>
            </a:pPr>
            <a:r>
              <a:rPr sz="3300" b="1">
                <a:solidFill>
                  <a:srgbClr val="20333D"/>
                </a:solidFill>
                <a:latin typeface="DejaVu Sans"/>
                <a:ea typeface="DejaVu Sans"/>
                <a:cs typeface="DejaVu Sans"/>
              </a:rPr>
              <a:t>Our awards in pictures</a:t>
            </a:r>
          </a:p>
        </p:txBody>
      </p:sp>
      <p:sp>
        <p:nvSpPr>
          <p:cNvPr id="3" name="Rectangle 2">
            <a:extLst>
              <a:ext uri="{FF2B5EF4-FFF2-40B4-BE49-F238E27FC236}">
                <a16:creationId xmlns:a16="http://schemas.microsoft.com/office/drawing/2014/main" id="{B6E62341-9872-48E6-AED6-B6C1973399DC}"/>
              </a:ext>
            </a:extLst>
          </p:cNvPr>
          <p:cNvSpPr>
            <a:spLocks noGrp="1"/>
          </p:cNvSpPr>
          <p:nvPr/>
        </p:nvSpPr>
        <p:spPr>
          <a:xfrm>
            <a:off x="609600" y="1809750"/>
            <a:ext cx="10972800" cy="647700"/>
          </a:xfrm>
          <a:prstGeom prst="rect">
            <a:avLst/>
          </a:prstGeom>
          <a:noFill/>
          <a:ln w="0">
            <a:noFill/>
          </a:ln>
        </p:spPr>
        <p:txBody>
          <a:bodyPr/>
          <a:lstStyle>
            <a:defPPr>
              <a:defRPr sz="1725" b="0">
                <a:solidFill>
                  <a:srgbClr val="60727B"/>
                </a:solidFill>
                <a:latin typeface="DejaVu Sans"/>
                <a:ea typeface="DejaVu Sans"/>
                <a:cs typeface="DejaVu Sans"/>
              </a:defRPr>
            </a:defPPr>
          </a:lstStyle>
          <a:p>
            <a:pPr>
              <a:defRPr sz="1725" b="0">
                <a:solidFill>
                  <a:srgbClr val="60727B"/>
                </a:solidFill>
                <a:latin typeface="DejaVu Sans"/>
                <a:ea typeface="DejaVu Sans"/>
                <a:cs typeface="DejaVu Sans"/>
              </a:defRPr>
            </a:pPr>
            <a:r>
              <a:rPr sz="1725" b="0">
                <a:solidFill>
                  <a:srgbClr val="60727B"/>
                </a:solidFill>
                <a:latin typeface="DejaVu Sans"/>
                <a:ea typeface="DejaVu Sans"/>
                <a:cs typeface="DejaVu Sans"/>
              </a:rPr>
              <a:t>Recognition since inception</a:t>
            </a:r>
          </a:p>
        </p:txBody>
      </p:sp>
      <p:sp>
        <p:nvSpPr>
          <p:cNvPr id="4" name="Rectangle 3">
            <a:extLst>
              <a:ext uri="{FF2B5EF4-FFF2-40B4-BE49-F238E27FC236}">
                <a16:creationId xmlns:a16="http://schemas.microsoft.com/office/drawing/2014/main" id="{64531512-E694-4E34-A5AE-17B646B8C5DE}"/>
              </a:ext>
            </a:extLst>
          </p:cNvPr>
          <p:cNvSpPr>
            <a:spLocks noGrp="1"/>
          </p:cNvSpPr>
          <p:nvPr/>
        </p:nvSpPr>
        <p:spPr>
          <a:xfrm>
            <a:off x="609600" y="6400800"/>
            <a:ext cx="10287000" cy="228600"/>
          </a:xfrm>
          <a:prstGeom prst="rect">
            <a:avLst/>
          </a:prstGeom>
          <a:noFill/>
          <a:ln w="0">
            <a:noFill/>
          </a:ln>
        </p:spPr>
        <p:txBody>
          <a:bodyPr/>
          <a:lstStyle>
            <a:defPPr>
              <a:defRPr sz="1050" b="0">
                <a:solidFill>
                  <a:srgbClr val="60727B"/>
                </a:solidFill>
                <a:latin typeface="DejaVu Sans"/>
                <a:ea typeface="DejaVu Sans"/>
                <a:cs typeface="DejaVu Sans"/>
              </a:defRPr>
            </a:defPPr>
          </a:lstStyle>
          <a:p>
            <a:pPr>
              <a:defRPr sz="1050" b="0">
                <a:solidFill>
                  <a:srgbClr val="60727B"/>
                </a:solidFill>
                <a:latin typeface="DejaVu Sans"/>
                <a:ea typeface="DejaVu Sans"/>
                <a:cs typeface="DejaVu Sans"/>
              </a:defRPr>
            </a:pPr>
            <a:r>
              <a:rPr sz="1050" b="0">
                <a:solidFill>
                  <a:srgbClr val="60727B"/>
                </a:solidFill>
                <a:latin typeface="DejaVu Sans"/>
                <a:ea typeface="DejaVu Sans"/>
                <a:cs typeface="DejaVu Sans"/>
              </a:rPr>
              <a:t>Rayan El Eid, Managing Director     •     Quarterly Board Meeting 2026</a:t>
            </a:r>
          </a:p>
        </p:txBody>
      </p:sp>
      <p:sp>
        <p:nvSpPr>
          <p:cNvPr id="5" name="Rectangle 4">
            <a:extLst>
              <a:ext uri="{FF2B5EF4-FFF2-40B4-BE49-F238E27FC236}">
                <a16:creationId xmlns:a16="http://schemas.microsoft.com/office/drawing/2014/main" id="{30071069-F07F-48E4-9EE1-67429F36DC44}"/>
              </a:ext>
            </a:extLst>
          </p:cNvPr>
          <p:cNvSpPr>
            <a:spLocks noGrp="1"/>
          </p:cNvSpPr>
          <p:nvPr/>
        </p:nvSpPr>
        <p:spPr>
          <a:xfrm>
            <a:off x="11087100" y="6381750"/>
            <a:ext cx="495300" cy="266700"/>
          </a:xfrm>
          <a:prstGeom prst="rect">
            <a:avLst/>
          </a:prstGeom>
          <a:noFill/>
          <a:ln w="0">
            <a:noFill/>
          </a:ln>
        </p:spPr>
        <p:txBody>
          <a:bodyPr/>
          <a:lstStyle>
            <a:defPPr>
              <a:defRPr sz="1200" b="0">
                <a:solidFill>
                  <a:srgbClr val="60727B"/>
                </a:solidFill>
                <a:latin typeface="DejaVu Sans"/>
                <a:ea typeface="DejaVu Sans"/>
                <a:cs typeface="DejaVu Sans"/>
              </a:defRPr>
            </a:defPPr>
          </a:lstStyle>
          <a:p>
            <a:pPr>
              <a:defRPr sz="1200" b="0">
                <a:solidFill>
                  <a:srgbClr val="60727B"/>
                </a:solidFill>
                <a:latin typeface="DejaVu Sans"/>
                <a:ea typeface="DejaVu Sans"/>
                <a:cs typeface="DejaVu Sans"/>
              </a:defRPr>
            </a:pPr>
            <a:r>
              <a:rPr sz="1200" b="0">
                <a:solidFill>
                  <a:srgbClr val="60727B"/>
                </a:solidFill>
                <a:latin typeface="DejaVu Sans"/>
                <a:ea typeface="DejaVu Sans"/>
                <a:cs typeface="DejaVu Sans"/>
              </a:rPr>
              <a:t>07</a:t>
            </a:r>
          </a:p>
        </p:txBody>
      </p:sp>
      <p:pic>
        <p:nvPicPr>
          <p:cNvPr id="6" name="Picture 5">
            <a:extLst>
              <a:ext uri="{FF2B5EF4-FFF2-40B4-BE49-F238E27FC236}">
                <a16:creationId xmlns:a16="http://schemas.microsoft.com/office/drawing/2014/main" id="{AFC0B768-3768-4676-BA2F-16959A0DF7DE}"/>
              </a:ext>
            </a:extLst>
          </p:cNvPr>
          <p:cNvPicPr>
            <a:picLocks noChangeAspect="1"/>
          </p:cNvPicPr>
          <p:nvPr/>
        </p:nvPicPr>
        <p:blipFill>
          <a:blip r:embed="rId3"/>
          <a:stretch/>
        </p:blipFill>
        <p:spPr>
          <a:xfrm>
            <a:off x="609600" y="2746375"/>
            <a:ext cx="2095500" cy="2794000"/>
          </a:xfrm>
          <a:prstGeom prst="rect">
            <a:avLst/>
          </a:prstGeom>
        </p:spPr>
      </p:pic>
      <p:sp>
        <p:nvSpPr>
          <p:cNvPr id="7" name="Rectangle 6">
            <a:extLst>
              <a:ext uri="{FF2B5EF4-FFF2-40B4-BE49-F238E27FC236}">
                <a16:creationId xmlns:a16="http://schemas.microsoft.com/office/drawing/2014/main" id="{B65F8429-DDA1-4E83-A09A-4C6F818BF411}"/>
              </a:ext>
            </a:extLst>
          </p:cNvPr>
          <p:cNvSpPr>
            <a:spLocks noGrp="1"/>
          </p:cNvSpPr>
          <p:nvPr/>
        </p:nvSpPr>
        <p:spPr>
          <a:xfrm>
            <a:off x="609600" y="5886450"/>
            <a:ext cx="2095500" cy="342900"/>
          </a:xfrm>
          <a:prstGeom prst="rect">
            <a:avLst/>
          </a:prstGeom>
          <a:noFill/>
          <a:ln w="0">
            <a:noFill/>
          </a:ln>
        </p:spPr>
        <p:txBody>
          <a:bodyPr/>
          <a:lstStyle>
            <a:defPPr>
              <a:defRPr sz="1200" b="1">
                <a:solidFill>
                  <a:srgbClr val="007F83"/>
                </a:solidFill>
                <a:latin typeface="DejaVu Sans"/>
                <a:ea typeface="DejaVu Sans"/>
                <a:cs typeface="DejaVu Sans"/>
              </a:defRPr>
            </a:defPPr>
          </a:lstStyle>
          <a:p>
            <a:pPr>
              <a:defRPr sz="1200" b="1">
                <a:solidFill>
                  <a:srgbClr val="007F83"/>
                </a:solidFill>
                <a:latin typeface="DejaVu Sans"/>
                <a:ea typeface="DejaVu Sans"/>
                <a:cs typeface="DejaVu Sans"/>
              </a:defRPr>
            </a:pPr>
            <a:r>
              <a:rPr sz="1200" b="1">
                <a:solidFill>
                  <a:srgbClr val="007F83"/>
                </a:solidFill>
                <a:latin typeface="DejaVu Sans"/>
                <a:ea typeface="DejaVu Sans"/>
                <a:cs typeface="DejaVu Sans"/>
              </a:rPr>
              <a:t>Safety excellence</a:t>
            </a:r>
          </a:p>
        </p:txBody>
      </p:sp>
      <p:pic>
        <p:nvPicPr>
          <p:cNvPr id="8" name="Picture 7">
            <a:extLst>
              <a:ext uri="{FF2B5EF4-FFF2-40B4-BE49-F238E27FC236}">
                <a16:creationId xmlns:a16="http://schemas.microsoft.com/office/drawing/2014/main" id="{78FBD4A1-7E3F-45AA-9083-0289A7FF7623}"/>
              </a:ext>
            </a:extLst>
          </p:cNvPr>
          <p:cNvPicPr>
            <a:picLocks noChangeAspect="1"/>
          </p:cNvPicPr>
          <p:nvPr/>
        </p:nvPicPr>
        <p:blipFill>
          <a:blip r:embed="rId4"/>
          <a:stretch/>
        </p:blipFill>
        <p:spPr>
          <a:xfrm>
            <a:off x="2914650" y="2746375"/>
            <a:ext cx="2095500" cy="2794000"/>
          </a:xfrm>
          <a:prstGeom prst="rect">
            <a:avLst/>
          </a:prstGeom>
        </p:spPr>
      </p:pic>
      <p:sp>
        <p:nvSpPr>
          <p:cNvPr id="9" name="Rectangle 8">
            <a:extLst>
              <a:ext uri="{FF2B5EF4-FFF2-40B4-BE49-F238E27FC236}">
                <a16:creationId xmlns:a16="http://schemas.microsoft.com/office/drawing/2014/main" id="{0DA347DE-F3A4-4072-B862-70549F483DEE}"/>
              </a:ext>
            </a:extLst>
          </p:cNvPr>
          <p:cNvSpPr>
            <a:spLocks noGrp="1"/>
          </p:cNvSpPr>
          <p:nvPr/>
        </p:nvSpPr>
        <p:spPr>
          <a:xfrm>
            <a:off x="2914650" y="5886450"/>
            <a:ext cx="2095500" cy="342900"/>
          </a:xfrm>
          <a:prstGeom prst="rect">
            <a:avLst/>
          </a:prstGeom>
          <a:noFill/>
          <a:ln w="0">
            <a:noFill/>
          </a:ln>
        </p:spPr>
        <p:txBody>
          <a:bodyPr/>
          <a:lstStyle>
            <a:defPPr>
              <a:defRPr sz="1200" b="1">
                <a:solidFill>
                  <a:srgbClr val="007F83"/>
                </a:solidFill>
                <a:latin typeface="DejaVu Sans"/>
                <a:ea typeface="DejaVu Sans"/>
                <a:cs typeface="DejaVu Sans"/>
              </a:defRPr>
            </a:defPPr>
          </a:lstStyle>
          <a:p>
            <a:pPr>
              <a:defRPr sz="1200" b="1">
                <a:solidFill>
                  <a:srgbClr val="007F83"/>
                </a:solidFill>
                <a:latin typeface="DejaVu Sans"/>
                <a:ea typeface="DejaVu Sans"/>
                <a:cs typeface="DejaVu Sans"/>
              </a:defRPr>
            </a:pPr>
            <a:r>
              <a:rPr sz="1200" b="1">
                <a:solidFill>
                  <a:srgbClr val="007F83"/>
                </a:solidFill>
                <a:latin typeface="DejaVu Sans"/>
                <a:ea typeface="DejaVu Sans"/>
                <a:cs typeface="DejaVu Sans"/>
              </a:rPr>
              <a:t>Best machines’ utilization</a:t>
            </a:r>
          </a:p>
        </p:txBody>
      </p:sp>
      <p:pic>
        <p:nvPicPr>
          <p:cNvPr id="10" name="Picture 9">
            <a:extLst>
              <a:ext uri="{FF2B5EF4-FFF2-40B4-BE49-F238E27FC236}">
                <a16:creationId xmlns:a16="http://schemas.microsoft.com/office/drawing/2014/main" id="{6A38C4ED-E060-4892-9563-A2817C3095AB}"/>
              </a:ext>
            </a:extLst>
          </p:cNvPr>
          <p:cNvPicPr>
            <a:picLocks noChangeAspect="1"/>
          </p:cNvPicPr>
          <p:nvPr/>
        </p:nvPicPr>
        <p:blipFill>
          <a:blip r:embed="rId5"/>
          <a:stretch/>
        </p:blipFill>
        <p:spPr>
          <a:xfrm>
            <a:off x="5219700" y="2746375"/>
            <a:ext cx="2095500" cy="2794000"/>
          </a:xfrm>
          <a:prstGeom prst="rect">
            <a:avLst/>
          </a:prstGeom>
        </p:spPr>
      </p:pic>
      <p:sp>
        <p:nvSpPr>
          <p:cNvPr id="11" name="Rectangle 10">
            <a:extLst>
              <a:ext uri="{FF2B5EF4-FFF2-40B4-BE49-F238E27FC236}">
                <a16:creationId xmlns:a16="http://schemas.microsoft.com/office/drawing/2014/main" id="{05F92F41-E821-4110-BFCF-1F0375CAD617}"/>
              </a:ext>
            </a:extLst>
          </p:cNvPr>
          <p:cNvSpPr>
            <a:spLocks noGrp="1"/>
          </p:cNvSpPr>
          <p:nvPr/>
        </p:nvSpPr>
        <p:spPr>
          <a:xfrm>
            <a:off x="5219700" y="5886450"/>
            <a:ext cx="2095500" cy="342900"/>
          </a:xfrm>
          <a:prstGeom prst="rect">
            <a:avLst/>
          </a:prstGeom>
          <a:noFill/>
          <a:ln w="0">
            <a:noFill/>
          </a:ln>
        </p:spPr>
        <p:txBody>
          <a:bodyPr/>
          <a:lstStyle>
            <a:defPPr>
              <a:defRPr sz="1200" b="1">
                <a:solidFill>
                  <a:srgbClr val="007F83"/>
                </a:solidFill>
                <a:latin typeface="DejaVu Sans"/>
                <a:ea typeface="DejaVu Sans"/>
                <a:cs typeface="DejaVu Sans"/>
              </a:defRPr>
            </a:defPPr>
          </a:lstStyle>
          <a:p>
            <a:pPr>
              <a:defRPr sz="1200" b="1">
                <a:solidFill>
                  <a:srgbClr val="007F83"/>
                </a:solidFill>
                <a:latin typeface="DejaVu Sans"/>
                <a:ea typeface="DejaVu Sans"/>
                <a:cs typeface="DejaVu Sans"/>
              </a:defRPr>
            </a:pPr>
            <a:r>
              <a:rPr sz="1200" b="1">
                <a:solidFill>
                  <a:srgbClr val="007F83"/>
                </a:solidFill>
                <a:latin typeface="DejaVu Sans"/>
                <a:ea typeface="DejaVu Sans"/>
                <a:cs typeface="DejaVu Sans"/>
              </a:rPr>
              <a:t>Guinness World Records</a:t>
            </a:r>
          </a:p>
        </p:txBody>
      </p:sp>
      <p:pic>
        <p:nvPicPr>
          <p:cNvPr id="12" name="Picture 11">
            <a:extLst>
              <a:ext uri="{FF2B5EF4-FFF2-40B4-BE49-F238E27FC236}">
                <a16:creationId xmlns:a16="http://schemas.microsoft.com/office/drawing/2014/main" id="{EB846D5B-BB9B-482B-BC57-218F58198CAA}"/>
              </a:ext>
            </a:extLst>
          </p:cNvPr>
          <p:cNvPicPr>
            <a:picLocks noChangeAspect="1"/>
          </p:cNvPicPr>
          <p:nvPr/>
        </p:nvPicPr>
        <p:blipFill>
          <a:blip r:embed="rId6"/>
          <a:stretch/>
        </p:blipFill>
        <p:spPr>
          <a:xfrm>
            <a:off x="8518525" y="1924050"/>
            <a:ext cx="2184400" cy="1638300"/>
          </a:xfrm>
          <a:prstGeom prst="rect">
            <a:avLst/>
          </a:prstGeom>
        </p:spPr>
      </p:pic>
      <p:sp>
        <p:nvSpPr>
          <p:cNvPr id="13" name="Rectangle 12">
            <a:extLst>
              <a:ext uri="{FF2B5EF4-FFF2-40B4-BE49-F238E27FC236}">
                <a16:creationId xmlns:a16="http://schemas.microsoft.com/office/drawing/2014/main" id="{16C70770-28A2-45EC-BD66-BBA77411ACC2}"/>
              </a:ext>
            </a:extLst>
          </p:cNvPr>
          <p:cNvSpPr>
            <a:spLocks noGrp="1"/>
          </p:cNvSpPr>
          <p:nvPr/>
        </p:nvSpPr>
        <p:spPr>
          <a:xfrm>
            <a:off x="8518525" y="3657600"/>
            <a:ext cx="2391918" cy="342900"/>
          </a:xfrm>
          <a:prstGeom prst="rect">
            <a:avLst/>
          </a:prstGeom>
          <a:noFill/>
          <a:ln w="0">
            <a:noFill/>
          </a:ln>
        </p:spPr>
        <p:txBody>
          <a:bodyPr/>
          <a:lstStyle>
            <a:defPPr>
              <a:defRPr sz="1200" b="1">
                <a:solidFill>
                  <a:srgbClr val="007F83"/>
                </a:solidFill>
                <a:latin typeface="DejaVu Sans"/>
                <a:ea typeface="DejaVu Sans"/>
                <a:cs typeface="DejaVu Sans"/>
              </a:defRPr>
            </a:defPPr>
          </a:lstStyle>
          <a:p>
            <a:pPr>
              <a:defRPr sz="1200" b="1">
                <a:solidFill>
                  <a:srgbClr val="007F83"/>
                </a:solidFill>
                <a:latin typeface="DejaVu Sans"/>
                <a:ea typeface="DejaVu Sans"/>
                <a:cs typeface="DejaVu Sans"/>
              </a:defRPr>
            </a:pPr>
            <a:r>
              <a:rPr sz="1200" b="1" dirty="0">
                <a:solidFill>
                  <a:srgbClr val="007F83"/>
                </a:solidFill>
                <a:latin typeface="DejaVu Sans"/>
                <a:ea typeface="DejaVu Sans"/>
                <a:cs typeface="DejaVu Sans"/>
              </a:rPr>
              <a:t>Project of the Year</a:t>
            </a:r>
          </a:p>
        </p:txBody>
      </p:sp>
      <p:pic>
        <p:nvPicPr>
          <p:cNvPr id="14" name="Picture 13">
            <a:extLst>
              <a:ext uri="{FF2B5EF4-FFF2-40B4-BE49-F238E27FC236}">
                <a16:creationId xmlns:a16="http://schemas.microsoft.com/office/drawing/2014/main" id="{56A06EB2-5E49-4FD3-ABA5-2F9B446B42EC}"/>
              </a:ext>
            </a:extLst>
          </p:cNvPr>
          <p:cNvPicPr>
            <a:picLocks noChangeAspect="1"/>
          </p:cNvPicPr>
          <p:nvPr/>
        </p:nvPicPr>
        <p:blipFill>
          <a:blip r:embed="rId7"/>
          <a:stretch/>
        </p:blipFill>
        <p:spPr>
          <a:xfrm>
            <a:off x="8518525" y="4314825"/>
            <a:ext cx="2184400" cy="1638300"/>
          </a:xfrm>
          <a:prstGeom prst="rect">
            <a:avLst/>
          </a:prstGeom>
        </p:spPr>
      </p:pic>
      <p:sp>
        <p:nvSpPr>
          <p:cNvPr id="15" name="Rectangle 14">
            <a:extLst>
              <a:ext uri="{FF2B5EF4-FFF2-40B4-BE49-F238E27FC236}">
                <a16:creationId xmlns:a16="http://schemas.microsoft.com/office/drawing/2014/main" id="{D3799ECB-4CE1-4D68-A76D-78344AB334A0}"/>
              </a:ext>
            </a:extLst>
          </p:cNvPr>
          <p:cNvSpPr>
            <a:spLocks noGrp="1"/>
          </p:cNvSpPr>
          <p:nvPr/>
        </p:nvSpPr>
        <p:spPr>
          <a:xfrm>
            <a:off x="8324850" y="6043612"/>
            <a:ext cx="3257550" cy="371475"/>
          </a:xfrm>
          <a:prstGeom prst="rect">
            <a:avLst/>
          </a:prstGeom>
          <a:noFill/>
          <a:ln w="0">
            <a:noFill/>
          </a:ln>
        </p:spPr>
        <p:txBody>
          <a:bodyPr/>
          <a:lstStyle>
            <a:defPPr>
              <a:defRPr sz="1200" b="1">
                <a:solidFill>
                  <a:srgbClr val="007F83"/>
                </a:solidFill>
                <a:latin typeface="DejaVu Sans"/>
                <a:ea typeface="DejaVu Sans"/>
                <a:cs typeface="DejaVu Sans"/>
              </a:defRPr>
            </a:defPPr>
          </a:lstStyle>
          <a:p>
            <a:pPr>
              <a:defRPr sz="1200" b="1">
                <a:solidFill>
                  <a:srgbClr val="007F83"/>
                </a:solidFill>
                <a:latin typeface="DejaVu Sans"/>
                <a:ea typeface="DejaVu Sans"/>
                <a:cs typeface="DejaVu Sans"/>
              </a:defRPr>
            </a:pPr>
            <a:r>
              <a:rPr sz="1200" b="1" dirty="0">
                <a:solidFill>
                  <a:srgbClr val="007F83"/>
                </a:solidFill>
                <a:latin typeface="DejaVu Sans"/>
                <a:ea typeface="DejaVu Sans"/>
                <a:cs typeface="DejaVu Sans"/>
              </a:rPr>
              <a:t>JCB Customer of the Year 2025</a:t>
            </a:r>
          </a:p>
        </p:txBody>
      </p:sp>
    </p:spTree>
    <p:extLst>
      <p:ext uri="{BB962C8B-B14F-4D97-AF65-F5344CB8AC3E}">
        <p14:creationId xmlns:p14="http://schemas.microsoft.com/office/powerpoint/2010/main" val="35685095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0ce82d3f-86fe-4883-a4c6-d2b04847765e}" enabled="0" method="" siteId="{0ce82d3f-86fe-4883-a4c6-d2b04847765e}" removed="1"/>
</clbl:labelList>
</file>

<file path=docProps/app.xml><?xml version="1.0" encoding="utf-8"?>
<Properties xmlns="http://schemas.openxmlformats.org/officeDocument/2006/extended-properties" xmlns:vt="http://schemas.openxmlformats.org/officeDocument/2006/docPropsVTypes">
  <TotalTime>134</TotalTime>
  <Words>1449</Words>
  <Application>Microsoft Office PowerPoint</Application>
  <DocSecurity>0</DocSecurity>
  <PresentationFormat>Widescreen</PresentationFormat>
  <Paragraphs>135</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Lana Dalky</cp:lastModifiedBy>
  <cp:revision>8</cp:revision>
  <dcterms:created xsi:type="dcterms:W3CDTF">2026-10-09T08:32:43Z</dcterms:created>
  <dcterms:modified xsi:type="dcterms:W3CDTF">2026-10-09T12:07:29Z</dcterms:modified>
</cp:coreProperties>
</file>